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3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DejaVu Sans"/>
              </a:rPr>
              <a:t>Click to move the slide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DejaVu Sans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dt" idx="2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ftr" idx="3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6"/>
          <p:cNvSpPr>
            <a:spLocks noGrp="1"/>
          </p:cNvSpPr>
          <p:nvPr>
            <p:ph type="sldNum" idx="4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414717DF-54C9-43F4-85A2-F25B80E80812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0:00–0:15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OpenClaw is not a new model. It is the layer that turns a conversation into a real action within the operator’s infrastructure and rules.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9759A6C-8C5D-4D1E-AD38-0FF32F42C98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0:15–0:50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interface is the conversation, but the product is a control plane: it keeps channels connected, selects the agent and session, assembles context, and controls tools.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0FA9E7B-12A2-46DC-99A3-9681CA172B24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0:50–1:35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Use a concrete example: “Summarize the status of a task.” Show that the model does not choose the channel or identity; it receives a prepared turn and can use only the tools it is allowed to access.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0711339-80E9-4201-9ED0-930C28B0730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1:35–2:25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Explain it from top to bottom. The Gateway receives and delivers messages; bindings select the agent; the agent defines the workspace, model, and policy; the runtime executes the loop; and nodes extend execution to other devices.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8DEEDC1-A7BC-4774-ACAB-27239C4165FD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2:25–3:05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Address the key points: Markdown files provide context; active sessions and credentials live outside the workspace in SQLite state. A node is a paired companion host, but every command remains controlled.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84C8238-FD53-4C8B-B084-F8E6E1B162A0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3:05–3:40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same characteristic appears on both sides: real access. It enables useful automation, but it also increases operational and security responsibility.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1B7E7C1-5BC6-44BA-A679-2024666DCEC1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3:40–4:30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There is no absolute winner. OpenClaw is the shortcut to a connected assistant. AgentCore is a managed operational platform. LangGraph is the tool for designing the workflow.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B0C79E9-4818-408B-803D-2042D049F798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hape 0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ff5a52"/>
          </a:solidFill>
          <a:ln w="12700">
            <a:solidFill>
              <a:srgbClr val="ff5a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" name="Text 1"/>
          <p:cNvSpPr/>
          <p:nvPr/>
        </p:nvSpPr>
        <p:spPr>
          <a:xfrm>
            <a:off x="438840" y="6510600"/>
            <a:ext cx="13712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50" spc="119" strike="noStrike" u="none">
                <a:solidFill>
                  <a:srgbClr val="ff6b63"/>
                </a:solidFill>
                <a:effectLst/>
                <a:uFillTx/>
                <a:latin typeface="DejaVu Sans"/>
                <a:ea typeface="DejaVu Sans"/>
              </a:rPr>
              <a:t>OPENCLAW</a:t>
            </a:r>
            <a:endParaRPr b="0" lang="en-US" sz="6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1"/>
          </p:nvPr>
        </p:nvSpPr>
        <p:spPr>
          <a:xfrm>
            <a:off x="11384280" y="6473880"/>
            <a:ext cx="365400" cy="18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700" strike="noStrike" u="none">
                <a:solidFill>
                  <a:srgbClr val="7d8597"/>
                </a:solidFill>
                <a:effectLst/>
                <a:uFillTx/>
                <a:latin typeface="DejaVu San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E09237A-D7EF-43C7-BE97-BCD4E17580B3}" type="slidenum">
              <a:rPr b="0" lang="en-US" sz="700" strike="noStrike" u="none">
                <a:solidFill>
                  <a:srgbClr val="7d8597"/>
                </a:solidFill>
                <a:effectLst/>
                <a:uFillTx/>
                <a:latin typeface="DejaVu Sans"/>
                <a:ea typeface="DejaVu Sans"/>
              </a:rPr>
              <a:t>&lt;number&gt;</a:t>
            </a:fld>
            <a:endParaRPr b="0" lang="en-US" sz="7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DejaVu Sans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DejaVu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DejaVu Sans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DejaVu Sans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DejaVu Sans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DejaVu Sans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DejaVu Sans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DejaVu Sans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DejaVu Sans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DejaVu Sans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DejaVu Sans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DejaVu Sans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DejaVu Sans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DejaVu Sans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DejaVu Sans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DejaVu Sans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0"/>
          <p:cNvSpPr/>
          <p:nvPr/>
        </p:nvSpPr>
        <p:spPr>
          <a:xfrm>
            <a:off x="8503920" y="594360"/>
            <a:ext cx="3154320" cy="3154320"/>
          </a:xfrm>
          <a:prstGeom prst="ellipse">
            <a:avLst/>
          </a:prstGeom>
          <a:solidFill>
            <a:srgbClr val="ff5a52">
              <a:alpha val="12000"/>
            </a:srgbClr>
          </a:solidFill>
          <a:ln w="12700">
            <a:solidFill>
              <a:srgbClr val="ff5a52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1"/>
          <p:cNvSpPr/>
          <p:nvPr/>
        </p:nvSpPr>
        <p:spPr>
          <a:xfrm>
            <a:off x="9144000" y="1234440"/>
            <a:ext cx="1874160" cy="1874160"/>
          </a:xfrm>
          <a:prstGeom prst="ellipse">
            <a:avLst/>
          </a:prstGeom>
          <a:solidFill>
            <a:srgbClr val="ff5a52">
              <a:alpha val="28000"/>
            </a:srgbClr>
          </a:solidFill>
          <a:ln w="12700">
            <a:solidFill>
              <a:srgbClr val="ff5a52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2"/>
          <p:cNvSpPr/>
          <p:nvPr/>
        </p:nvSpPr>
        <p:spPr>
          <a:xfrm>
            <a:off x="457200" y="1739520"/>
            <a:ext cx="5365800" cy="185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600" spc="249" strike="noStrike" u="none">
                <a:solidFill>
                  <a:srgbClr val="ff5a52"/>
                </a:solidFill>
                <a:effectLst/>
                <a:uFillTx/>
                <a:latin typeface="DejaVu Sans"/>
              </a:rPr>
              <a:t>OpenClaw</a:t>
            </a:r>
            <a:endParaRPr b="0" lang="en-US" sz="6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5"/>
          <p:cNvSpPr/>
          <p:nvPr/>
        </p:nvSpPr>
        <p:spPr>
          <a:xfrm>
            <a:off x="537480" y="3528720"/>
            <a:ext cx="6080760" cy="360"/>
          </a:xfrm>
          <a:prstGeom prst="line">
            <a:avLst/>
          </a:prstGeom>
          <a:ln w="15240">
            <a:solidFill>
              <a:srgbClr val="3038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6"/>
          <p:cNvSpPr/>
          <p:nvPr/>
        </p:nvSpPr>
        <p:spPr>
          <a:xfrm>
            <a:off x="537840" y="3595680"/>
            <a:ext cx="68119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a9b1c1"/>
                </a:solidFill>
                <a:effectLst/>
                <a:uFillTx/>
                <a:latin typeface="DejaVu Sans"/>
              </a:rPr>
              <a:t>A self-hosted layer connecting channels, agents, models, memory, and tools.</a:t>
            </a:r>
            <a:endParaRPr b="0" lang="en-US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442440" y="5806440"/>
            <a:ext cx="4114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7d8597"/>
                </a:solidFill>
                <a:effectLst/>
                <a:uFillTx/>
                <a:latin typeface="DejaVu Sans"/>
              </a:rPr>
              <a:t>Jeferson Lemos · 27 AUG 2026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1"/>
          <p:cNvSpPr>
            <a:spLocks noGrp="1"/>
          </p:cNvSpPr>
          <p:nvPr>
            <p:ph type="sldNum" idx="5"/>
          </p:nvPr>
        </p:nvSpPr>
        <p:spPr>
          <a:xfrm>
            <a:off x="11384280" y="6473880"/>
            <a:ext cx="365400" cy="18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700" strike="noStrike" u="none">
                <a:solidFill>
                  <a:srgbClr val="7d8597"/>
                </a:solidFill>
                <a:effectLst/>
                <a:uFillTx/>
                <a:latin typeface="DejaVu San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3786253-0483-4BFE-9F37-BB54F6D9277C}" type="slidenum">
              <a:rPr b="0" lang="en-US" sz="700" strike="noStrike" u="none">
                <a:solidFill>
                  <a:srgbClr val="7d8597"/>
                </a:solidFill>
                <a:effectLst/>
                <a:uFillTx/>
                <a:latin typeface="DejaVu Sans"/>
                <a:ea typeface="DejaVu Sans"/>
              </a:rPr>
              <a:t>1</a:t>
            </a:fld>
            <a:endParaRPr b="0" lang="en-US" sz="7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8" name="" descr=""/>
          <p:cNvPicPr/>
          <p:nvPr/>
        </p:nvPicPr>
        <p:blipFill>
          <a:blip r:embed="rId1"/>
          <a:stretch/>
        </p:blipFill>
        <p:spPr>
          <a:xfrm>
            <a:off x="7543800" y="1828800"/>
            <a:ext cx="3885840" cy="3885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0"/>
          <p:cNvSpPr/>
          <p:nvPr/>
        </p:nvSpPr>
        <p:spPr>
          <a:xfrm>
            <a:off x="502920" y="311040"/>
            <a:ext cx="4388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181" strike="noStrike" u="none">
                <a:solidFill>
                  <a:srgbClr val="ff5a52"/>
                </a:solidFill>
                <a:effectLst/>
                <a:uFillTx/>
                <a:latin typeface="DejaVu Sans"/>
              </a:rPr>
              <a:t>01 · DEFINITION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"/>
          <p:cNvSpPr/>
          <p:nvPr/>
        </p:nvSpPr>
        <p:spPr>
          <a:xfrm>
            <a:off x="502920" y="640080"/>
            <a:ext cx="109724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f4f7fb"/>
                </a:solidFill>
                <a:effectLst/>
                <a:uFillTx/>
                <a:latin typeface="DejaVu Sans"/>
              </a:rPr>
              <a:t>What is OpenClaw?</a:t>
            </a:r>
            <a:endParaRPr b="0" lang="en-US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2"/>
          <p:cNvSpPr/>
          <p:nvPr/>
        </p:nvSpPr>
        <p:spPr>
          <a:xfrm>
            <a:off x="511920" y="1353240"/>
            <a:ext cx="7040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7a72"/>
                </a:solidFill>
                <a:effectLst/>
                <a:uFillTx/>
                <a:latin typeface="DejaVu Sans"/>
              </a:rPr>
              <a:t>It is not the model. It is the orchestration layer.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3"/>
          <p:cNvSpPr/>
          <p:nvPr/>
        </p:nvSpPr>
        <p:spPr>
          <a:xfrm>
            <a:off x="4983480" y="2990160"/>
            <a:ext cx="2239920" cy="1325520"/>
          </a:xfrm>
          <a:prstGeom prst="ellipse">
            <a:avLst/>
          </a:prstGeom>
          <a:solidFill>
            <a:srgbClr val="ff5a52">
              <a:alpha val="92000"/>
            </a:srgbClr>
          </a:solidFill>
          <a:ln w="19050">
            <a:solidFill>
              <a:srgbClr val="ff7a7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4"/>
          <p:cNvSpPr/>
          <p:nvPr/>
        </p:nvSpPr>
        <p:spPr>
          <a:xfrm>
            <a:off x="5212080" y="3328560"/>
            <a:ext cx="1782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DejaVu Sans"/>
              </a:rPr>
              <a:t>GATEWAY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5"/>
          <p:cNvSpPr/>
          <p:nvPr/>
        </p:nvSpPr>
        <p:spPr>
          <a:xfrm>
            <a:off x="5148000" y="3703320"/>
            <a:ext cx="1919880" cy="41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DejaVu Sans"/>
              </a:rPr>
              <a:t>routes · persists · controls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6"/>
          <p:cNvSpPr/>
          <p:nvPr/>
        </p:nvSpPr>
        <p:spPr>
          <a:xfrm>
            <a:off x="594360" y="1828800"/>
            <a:ext cx="2331360" cy="1005480"/>
          </a:xfrm>
          <a:prstGeom prst="roundRect">
            <a:avLst>
              <a:gd name="adj" fmla="val 5455"/>
            </a:avLst>
          </a:prstGeom>
          <a:solidFill>
            <a:srgbClr val="151922"/>
          </a:solidFill>
          <a:ln w="12700">
            <a:solidFill>
              <a:srgbClr val="3038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7"/>
          <p:cNvSpPr/>
          <p:nvPr/>
        </p:nvSpPr>
        <p:spPr>
          <a:xfrm>
            <a:off x="594360" y="1828800"/>
            <a:ext cx="63720" cy="1005480"/>
          </a:xfrm>
          <a:prstGeom prst="rect">
            <a:avLst/>
          </a:prstGeom>
          <a:solidFill>
            <a:srgbClr val="4bd6c8"/>
          </a:solidFill>
          <a:ln w="12700">
            <a:solidFill>
              <a:srgbClr val="4bd6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8"/>
          <p:cNvSpPr/>
          <p:nvPr/>
        </p:nvSpPr>
        <p:spPr>
          <a:xfrm>
            <a:off x="850320" y="2030040"/>
            <a:ext cx="182844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4f7fb"/>
                </a:solidFill>
                <a:effectLst/>
                <a:uFillTx/>
                <a:latin typeface="DejaVu Sans"/>
              </a:rPr>
              <a:t>CHANNELS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9"/>
          <p:cNvSpPr/>
          <p:nvPr/>
        </p:nvSpPr>
        <p:spPr>
          <a:xfrm>
            <a:off x="829800" y="2468880"/>
            <a:ext cx="223992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5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a9b1c1"/>
                </a:solidFill>
                <a:effectLst/>
                <a:uFillTx/>
                <a:latin typeface="DejaVu Sans"/>
              </a:rPr>
              <a:t>WhatsApp · Slack · WebChat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10"/>
          <p:cNvSpPr/>
          <p:nvPr/>
        </p:nvSpPr>
        <p:spPr>
          <a:xfrm>
            <a:off x="594360" y="4343400"/>
            <a:ext cx="2331360" cy="1005480"/>
          </a:xfrm>
          <a:prstGeom prst="roundRect">
            <a:avLst>
              <a:gd name="adj" fmla="val 5455"/>
            </a:avLst>
          </a:prstGeom>
          <a:solidFill>
            <a:srgbClr val="151922"/>
          </a:solidFill>
          <a:ln w="12700">
            <a:solidFill>
              <a:srgbClr val="3038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11"/>
          <p:cNvSpPr/>
          <p:nvPr/>
        </p:nvSpPr>
        <p:spPr>
          <a:xfrm>
            <a:off x="594360" y="4343400"/>
            <a:ext cx="63720" cy="1005480"/>
          </a:xfrm>
          <a:prstGeom prst="rect">
            <a:avLst/>
          </a:prstGeom>
          <a:solidFill>
            <a:srgbClr val="63a4ff"/>
          </a:solidFill>
          <a:ln w="12700">
            <a:solidFill>
              <a:srgbClr val="63a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2"/>
          <p:cNvSpPr/>
          <p:nvPr/>
        </p:nvSpPr>
        <p:spPr>
          <a:xfrm>
            <a:off x="850320" y="4544640"/>
            <a:ext cx="182844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4f7fb"/>
                </a:solidFill>
                <a:effectLst/>
                <a:uFillTx/>
                <a:latin typeface="DejaVu Sans"/>
              </a:rPr>
              <a:t>PEOPLE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3"/>
          <p:cNvSpPr/>
          <p:nvPr/>
        </p:nvSpPr>
        <p:spPr>
          <a:xfrm>
            <a:off x="850320" y="4983480"/>
            <a:ext cx="212148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a9b1c1"/>
                </a:solidFill>
                <a:effectLst/>
                <a:uFillTx/>
                <a:latin typeface="DejaVu Sans"/>
              </a:rPr>
              <a:t>conversations · groups · context</a:t>
            </a:r>
            <a:endParaRPr b="0" lang="en-US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14"/>
          <p:cNvSpPr/>
          <p:nvPr/>
        </p:nvSpPr>
        <p:spPr>
          <a:xfrm>
            <a:off x="9189720" y="1828800"/>
            <a:ext cx="2331360" cy="1005480"/>
          </a:xfrm>
          <a:prstGeom prst="roundRect">
            <a:avLst>
              <a:gd name="adj" fmla="val 5455"/>
            </a:avLst>
          </a:prstGeom>
          <a:solidFill>
            <a:srgbClr val="151922"/>
          </a:solidFill>
          <a:ln w="12700">
            <a:solidFill>
              <a:srgbClr val="3038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15"/>
          <p:cNvSpPr/>
          <p:nvPr/>
        </p:nvSpPr>
        <p:spPr>
          <a:xfrm>
            <a:off x="9189720" y="1828800"/>
            <a:ext cx="63720" cy="1005480"/>
          </a:xfrm>
          <a:prstGeom prst="rect">
            <a:avLst/>
          </a:prstGeom>
          <a:solidFill>
            <a:srgbClr val="f6c85f"/>
          </a:solidFill>
          <a:ln w="12700">
            <a:solidFill>
              <a:srgbClr val="f6c8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6"/>
          <p:cNvSpPr/>
          <p:nvPr/>
        </p:nvSpPr>
        <p:spPr>
          <a:xfrm>
            <a:off x="9445680" y="2030040"/>
            <a:ext cx="182844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4f7fb"/>
                </a:solidFill>
                <a:effectLst/>
                <a:uFillTx/>
                <a:latin typeface="DejaVu Sans"/>
              </a:rPr>
              <a:t>MODELS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7"/>
          <p:cNvSpPr/>
          <p:nvPr/>
        </p:nvSpPr>
        <p:spPr>
          <a:xfrm>
            <a:off x="9445680" y="2468880"/>
            <a:ext cx="18558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a9b1c1"/>
                </a:solidFill>
                <a:effectLst/>
                <a:uFillTx/>
                <a:latin typeface="DejaVu Sans"/>
              </a:rPr>
              <a:t>OpenAI · Anthropic · local</a:t>
            </a:r>
            <a:endParaRPr b="0" lang="en-US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18"/>
          <p:cNvSpPr/>
          <p:nvPr/>
        </p:nvSpPr>
        <p:spPr>
          <a:xfrm>
            <a:off x="9189720" y="4343400"/>
            <a:ext cx="2331360" cy="1005480"/>
          </a:xfrm>
          <a:prstGeom prst="roundRect">
            <a:avLst>
              <a:gd name="adj" fmla="val 5455"/>
            </a:avLst>
          </a:prstGeom>
          <a:solidFill>
            <a:srgbClr val="151922"/>
          </a:solidFill>
          <a:ln w="12700">
            <a:solidFill>
              <a:srgbClr val="3038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19"/>
          <p:cNvSpPr/>
          <p:nvPr/>
        </p:nvSpPr>
        <p:spPr>
          <a:xfrm>
            <a:off x="9189720" y="4343400"/>
            <a:ext cx="63720" cy="1005480"/>
          </a:xfrm>
          <a:prstGeom prst="rect">
            <a:avLst/>
          </a:prstGeom>
          <a:solidFill>
            <a:srgbClr val="64d98b"/>
          </a:solidFill>
          <a:ln w="12700">
            <a:solidFill>
              <a:srgbClr val="64d9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20"/>
          <p:cNvSpPr/>
          <p:nvPr/>
        </p:nvSpPr>
        <p:spPr>
          <a:xfrm>
            <a:off x="9445680" y="4544640"/>
            <a:ext cx="182844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4f7fb"/>
                </a:solidFill>
                <a:effectLst/>
                <a:uFillTx/>
                <a:latin typeface="DejaVu Sans"/>
              </a:rPr>
              <a:t>ACTIONS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21"/>
          <p:cNvSpPr/>
          <p:nvPr/>
        </p:nvSpPr>
        <p:spPr>
          <a:xfrm>
            <a:off x="9445680" y="4983480"/>
            <a:ext cx="18558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a9b1c1"/>
                </a:solidFill>
                <a:effectLst/>
                <a:uFillTx/>
                <a:latin typeface="DejaVu Sans"/>
              </a:rPr>
              <a:t>files · browser · APIs · nodes</a:t>
            </a:r>
            <a:endParaRPr b="0" lang="en-US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22"/>
          <p:cNvSpPr/>
          <p:nvPr/>
        </p:nvSpPr>
        <p:spPr>
          <a:xfrm>
            <a:off x="2971800" y="2331720"/>
            <a:ext cx="1983960" cy="978120"/>
          </a:xfrm>
          <a:prstGeom prst="line">
            <a:avLst/>
          </a:prstGeom>
          <a:ln w="25400">
            <a:solidFill>
              <a:srgbClr val="4bd6c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23"/>
          <p:cNvSpPr/>
          <p:nvPr/>
        </p:nvSpPr>
        <p:spPr>
          <a:xfrm flipV="1">
            <a:off x="2971800" y="3977640"/>
            <a:ext cx="1983960" cy="850320"/>
          </a:xfrm>
          <a:prstGeom prst="line">
            <a:avLst/>
          </a:prstGeom>
          <a:ln w="25400">
            <a:solidFill>
              <a:srgbClr val="63a4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24"/>
          <p:cNvSpPr/>
          <p:nvPr/>
        </p:nvSpPr>
        <p:spPr>
          <a:xfrm flipV="1">
            <a:off x="7251120" y="2331720"/>
            <a:ext cx="1892880" cy="978120"/>
          </a:xfrm>
          <a:prstGeom prst="line">
            <a:avLst/>
          </a:prstGeom>
          <a:ln w="25400">
            <a:solidFill>
              <a:srgbClr val="f6c85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25"/>
          <p:cNvSpPr/>
          <p:nvPr/>
        </p:nvSpPr>
        <p:spPr>
          <a:xfrm>
            <a:off x="7251120" y="3977640"/>
            <a:ext cx="1892880" cy="850320"/>
          </a:xfrm>
          <a:prstGeom prst="line">
            <a:avLst/>
          </a:prstGeom>
          <a:ln w="25400">
            <a:solidFill>
              <a:srgbClr val="64d98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26"/>
          <p:cNvSpPr/>
          <p:nvPr/>
        </p:nvSpPr>
        <p:spPr>
          <a:xfrm>
            <a:off x="3108960" y="5669280"/>
            <a:ext cx="5943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a9b1c1"/>
                </a:solidFill>
                <a:effectLst/>
                <a:uFillTx/>
                <a:latin typeface="DejaVu Sans"/>
              </a:rPr>
              <a:t>multi-agent • channel-first • persistent state</a:t>
            </a:r>
            <a:endParaRPr b="0" lang="en-US" sz="11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27"/>
          <p:cNvSpPr/>
          <p:nvPr/>
        </p:nvSpPr>
        <p:spPr>
          <a:xfrm>
            <a:off x="1874520" y="6473880"/>
            <a:ext cx="90064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20" strike="noStrike" u="none">
                <a:solidFill>
                  <a:srgbClr val="70798b"/>
                </a:solidFill>
                <a:effectLst/>
                <a:uFillTx/>
                <a:latin typeface="DejaVu Sans"/>
              </a:rPr>
              <a:t>Source: docs.openclaw.ai — Gateway architecture, multi-agent routing, and agent workspace</a:t>
            </a:r>
            <a:endParaRPr b="0" lang="en-US" sz="6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1"/>
          <p:cNvSpPr>
            <a:spLocks noGrp="1"/>
          </p:cNvSpPr>
          <p:nvPr>
            <p:ph type="sldNum" idx="6"/>
          </p:nvPr>
        </p:nvSpPr>
        <p:spPr>
          <a:xfrm>
            <a:off x="11384280" y="6473880"/>
            <a:ext cx="365400" cy="18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700" strike="noStrike" u="none">
                <a:solidFill>
                  <a:srgbClr val="7d8597"/>
                </a:solidFill>
                <a:effectLst/>
                <a:uFillTx/>
                <a:latin typeface="DejaVu San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AFC91B3-26B4-414B-B8FE-EE37DA175273}" type="slidenum">
              <a:rPr b="0" lang="en-US" sz="700" strike="noStrike" u="none">
                <a:solidFill>
                  <a:srgbClr val="7d8597"/>
                </a:solidFill>
                <a:effectLst/>
                <a:uFillTx/>
                <a:latin typeface="DejaVu Sans"/>
                <a:ea typeface="DejaVu Sans"/>
              </a:rPr>
              <a:t>2</a:t>
            </a:fld>
            <a:endParaRPr b="0" lang="en-US" sz="7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 0"/>
          <p:cNvSpPr/>
          <p:nvPr/>
        </p:nvSpPr>
        <p:spPr>
          <a:xfrm>
            <a:off x="502920" y="311040"/>
            <a:ext cx="4388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181" strike="noStrike" u="none">
                <a:solidFill>
                  <a:srgbClr val="ff5a52"/>
                </a:solidFill>
                <a:effectLst/>
                <a:uFillTx/>
                <a:latin typeface="DejaVu Sans"/>
              </a:rPr>
              <a:t>02 · HOW IT WORKS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"/>
          <p:cNvSpPr/>
          <p:nvPr/>
        </p:nvSpPr>
        <p:spPr>
          <a:xfrm>
            <a:off x="502920" y="640080"/>
            <a:ext cx="109724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f4f7fb"/>
                </a:solidFill>
                <a:effectLst/>
                <a:uFillTx/>
                <a:latin typeface="DejaVu Sans"/>
              </a:rPr>
              <a:t>How a message becomes an action</a:t>
            </a:r>
            <a:endParaRPr b="0" lang="en-US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2"/>
          <p:cNvSpPr/>
          <p:nvPr/>
        </p:nvSpPr>
        <p:spPr>
          <a:xfrm>
            <a:off x="511920" y="1325880"/>
            <a:ext cx="98751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a9b1c1"/>
                </a:solidFill>
                <a:effectLst/>
                <a:uFillTx/>
                <a:latin typeface="DejaVu Sans"/>
              </a:rPr>
              <a:t>The model reasons. The Gateway maintains identity, state, policy, and delivery.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3"/>
          <p:cNvSpPr/>
          <p:nvPr/>
        </p:nvSpPr>
        <p:spPr>
          <a:xfrm>
            <a:off x="567000" y="2148840"/>
            <a:ext cx="1874160" cy="2285640"/>
          </a:xfrm>
          <a:prstGeom prst="roundRect">
            <a:avLst>
              <a:gd name="adj" fmla="val 3902"/>
            </a:avLst>
          </a:prstGeom>
          <a:solidFill>
            <a:srgbClr val="151922"/>
          </a:solidFill>
          <a:ln w="15240">
            <a:solidFill>
              <a:srgbClr val="4bd6c8">
                <a:alpha val="7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4"/>
          <p:cNvSpPr/>
          <p:nvPr/>
        </p:nvSpPr>
        <p:spPr>
          <a:xfrm>
            <a:off x="1225440" y="2377440"/>
            <a:ext cx="548280" cy="548280"/>
          </a:xfrm>
          <a:prstGeom prst="ellipse">
            <a:avLst/>
          </a:prstGeom>
          <a:solidFill>
            <a:srgbClr val="4bd6c8"/>
          </a:solidFill>
          <a:ln w="12700">
            <a:solidFill>
              <a:srgbClr val="4bd6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5"/>
          <p:cNvSpPr/>
          <p:nvPr/>
        </p:nvSpPr>
        <p:spPr>
          <a:xfrm>
            <a:off x="1225440" y="2487240"/>
            <a:ext cx="548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80a0e"/>
                </a:solidFill>
                <a:effectLst/>
                <a:uFillTx/>
                <a:latin typeface="DejaVu Sans"/>
              </a:rPr>
              <a:t>1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6"/>
          <p:cNvSpPr/>
          <p:nvPr/>
        </p:nvSpPr>
        <p:spPr>
          <a:xfrm>
            <a:off x="731520" y="3136320"/>
            <a:ext cx="1545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4f7fb"/>
                </a:solidFill>
                <a:effectLst/>
                <a:uFillTx/>
                <a:latin typeface="DejaVu Sans"/>
              </a:rPr>
              <a:t>Message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7"/>
          <p:cNvSpPr/>
          <p:nvPr/>
        </p:nvSpPr>
        <p:spPr>
          <a:xfrm>
            <a:off x="731520" y="3611880"/>
            <a:ext cx="1545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a9b1c1"/>
                </a:solidFill>
                <a:effectLst/>
                <a:uFillTx/>
                <a:latin typeface="DejaVu Sans"/>
              </a:rPr>
              <a:t>WhatsApp receives</a:t>
            </a:r>
            <a:endParaRPr b="0" lang="en-US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a9b1c1"/>
                </a:solidFill>
                <a:effectLst/>
                <a:uFillTx/>
                <a:latin typeface="DejaVu Sans"/>
              </a:rPr>
              <a:t>the request</a:t>
            </a:r>
            <a:endParaRPr b="0" lang="en-US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8"/>
          <p:cNvSpPr/>
          <p:nvPr/>
        </p:nvSpPr>
        <p:spPr>
          <a:xfrm>
            <a:off x="2514600" y="3291840"/>
            <a:ext cx="246600" cy="360"/>
          </a:xfrm>
          <a:prstGeom prst="line">
            <a:avLst/>
          </a:prstGeom>
          <a:ln w="22860">
            <a:solidFill>
              <a:srgbClr val="30384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9"/>
          <p:cNvSpPr/>
          <p:nvPr/>
        </p:nvSpPr>
        <p:spPr>
          <a:xfrm>
            <a:off x="2834640" y="2148840"/>
            <a:ext cx="1874160" cy="2285640"/>
          </a:xfrm>
          <a:prstGeom prst="roundRect">
            <a:avLst>
              <a:gd name="adj" fmla="val 3902"/>
            </a:avLst>
          </a:prstGeom>
          <a:solidFill>
            <a:srgbClr val="151922"/>
          </a:solidFill>
          <a:ln w="15240">
            <a:solidFill>
              <a:srgbClr val="63a4ff">
                <a:alpha val="7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10"/>
          <p:cNvSpPr/>
          <p:nvPr/>
        </p:nvSpPr>
        <p:spPr>
          <a:xfrm>
            <a:off x="3493080" y="2377440"/>
            <a:ext cx="548280" cy="548280"/>
          </a:xfrm>
          <a:prstGeom prst="ellipse">
            <a:avLst/>
          </a:prstGeom>
          <a:solidFill>
            <a:srgbClr val="63a4ff"/>
          </a:solidFill>
          <a:ln w="12700">
            <a:solidFill>
              <a:srgbClr val="63a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1"/>
          <p:cNvSpPr/>
          <p:nvPr/>
        </p:nvSpPr>
        <p:spPr>
          <a:xfrm>
            <a:off x="3493080" y="2487240"/>
            <a:ext cx="548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80a0e"/>
                </a:solidFill>
                <a:effectLst/>
                <a:uFillTx/>
                <a:latin typeface="DejaVu Sans"/>
              </a:rPr>
              <a:t>2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12"/>
          <p:cNvSpPr/>
          <p:nvPr/>
        </p:nvSpPr>
        <p:spPr>
          <a:xfrm>
            <a:off x="2999160" y="3136320"/>
            <a:ext cx="1545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4f7fb"/>
                </a:solidFill>
                <a:effectLst/>
                <a:uFillTx/>
                <a:latin typeface="DejaVu Sans"/>
              </a:rPr>
              <a:t>Binding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13"/>
          <p:cNvSpPr/>
          <p:nvPr/>
        </p:nvSpPr>
        <p:spPr>
          <a:xfrm>
            <a:off x="2999160" y="3611880"/>
            <a:ext cx="1545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a9b1c1"/>
                </a:solidFill>
                <a:effectLst/>
                <a:uFillTx/>
                <a:latin typeface="DejaVu Sans"/>
              </a:rPr>
              <a:t>a rule selects</a:t>
            </a:r>
            <a:endParaRPr b="0" lang="en-US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a9b1c1"/>
                </a:solidFill>
                <a:effectLst/>
                <a:uFillTx/>
                <a:latin typeface="DejaVu Sans"/>
              </a:rPr>
              <a:t>the agent</a:t>
            </a:r>
            <a:endParaRPr b="0" lang="en-US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14"/>
          <p:cNvSpPr/>
          <p:nvPr/>
        </p:nvSpPr>
        <p:spPr>
          <a:xfrm>
            <a:off x="4782240" y="3291840"/>
            <a:ext cx="246960" cy="360"/>
          </a:xfrm>
          <a:prstGeom prst="line">
            <a:avLst/>
          </a:prstGeom>
          <a:ln w="22860">
            <a:solidFill>
              <a:srgbClr val="30384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15"/>
          <p:cNvSpPr/>
          <p:nvPr/>
        </p:nvSpPr>
        <p:spPr>
          <a:xfrm>
            <a:off x="5102280" y="2148840"/>
            <a:ext cx="1874160" cy="2285640"/>
          </a:xfrm>
          <a:prstGeom prst="roundRect">
            <a:avLst>
              <a:gd name="adj" fmla="val 3902"/>
            </a:avLst>
          </a:prstGeom>
          <a:solidFill>
            <a:srgbClr val="151922"/>
          </a:solidFill>
          <a:ln w="15240">
            <a:solidFill>
              <a:srgbClr val="ff5a52">
                <a:alpha val="7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16"/>
          <p:cNvSpPr/>
          <p:nvPr/>
        </p:nvSpPr>
        <p:spPr>
          <a:xfrm>
            <a:off x="5760720" y="2377440"/>
            <a:ext cx="548280" cy="548280"/>
          </a:xfrm>
          <a:prstGeom prst="ellipse">
            <a:avLst/>
          </a:prstGeom>
          <a:solidFill>
            <a:srgbClr val="ff5a52"/>
          </a:solidFill>
          <a:ln w="12700">
            <a:solidFill>
              <a:srgbClr val="ff5a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7"/>
          <p:cNvSpPr/>
          <p:nvPr/>
        </p:nvSpPr>
        <p:spPr>
          <a:xfrm>
            <a:off x="5760720" y="2487240"/>
            <a:ext cx="548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80a0e"/>
                </a:solidFill>
                <a:effectLst/>
                <a:uFillTx/>
                <a:latin typeface="DejaVu Sans"/>
              </a:rPr>
              <a:t>3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8"/>
          <p:cNvSpPr/>
          <p:nvPr/>
        </p:nvSpPr>
        <p:spPr>
          <a:xfrm>
            <a:off x="5266800" y="3136320"/>
            <a:ext cx="1545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4f7fb"/>
                </a:solidFill>
                <a:effectLst/>
                <a:uFillTx/>
                <a:latin typeface="DejaVu Sans"/>
              </a:rPr>
              <a:t>Session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9"/>
          <p:cNvSpPr/>
          <p:nvPr/>
        </p:nvSpPr>
        <p:spPr>
          <a:xfrm>
            <a:off x="5266800" y="3611880"/>
            <a:ext cx="1545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a9b1c1"/>
                </a:solidFill>
                <a:effectLst/>
                <a:uFillTx/>
                <a:latin typeface="DejaVu Sans"/>
              </a:rPr>
              <a:t>history +</a:t>
            </a:r>
            <a:endParaRPr b="0" lang="en-US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a9b1c1"/>
                </a:solidFill>
                <a:effectLst/>
                <a:uFillTx/>
                <a:latin typeface="DejaVu Sans"/>
              </a:rPr>
              <a:t>workspace</a:t>
            </a:r>
            <a:endParaRPr b="0" lang="en-US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20"/>
          <p:cNvSpPr/>
          <p:nvPr/>
        </p:nvSpPr>
        <p:spPr>
          <a:xfrm>
            <a:off x="7049880" y="3291840"/>
            <a:ext cx="246960" cy="360"/>
          </a:xfrm>
          <a:prstGeom prst="line">
            <a:avLst/>
          </a:prstGeom>
          <a:ln w="22860">
            <a:solidFill>
              <a:srgbClr val="30384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21"/>
          <p:cNvSpPr/>
          <p:nvPr/>
        </p:nvSpPr>
        <p:spPr>
          <a:xfrm>
            <a:off x="7369920" y="2148840"/>
            <a:ext cx="1874160" cy="2285640"/>
          </a:xfrm>
          <a:prstGeom prst="roundRect">
            <a:avLst>
              <a:gd name="adj" fmla="val 3902"/>
            </a:avLst>
          </a:prstGeom>
          <a:solidFill>
            <a:srgbClr val="151922"/>
          </a:solidFill>
          <a:ln w="15240">
            <a:solidFill>
              <a:srgbClr val="f6c85f">
                <a:alpha val="7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22"/>
          <p:cNvSpPr/>
          <p:nvPr/>
        </p:nvSpPr>
        <p:spPr>
          <a:xfrm>
            <a:off x="8028360" y="2377440"/>
            <a:ext cx="548280" cy="548280"/>
          </a:xfrm>
          <a:prstGeom prst="ellipse">
            <a:avLst/>
          </a:prstGeom>
          <a:solidFill>
            <a:srgbClr val="f6c85f"/>
          </a:solidFill>
          <a:ln w="12700">
            <a:solidFill>
              <a:srgbClr val="f6c8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23"/>
          <p:cNvSpPr/>
          <p:nvPr/>
        </p:nvSpPr>
        <p:spPr>
          <a:xfrm>
            <a:off x="8028360" y="2487240"/>
            <a:ext cx="548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80a0e"/>
                </a:solidFill>
                <a:effectLst/>
                <a:uFillTx/>
                <a:latin typeface="DejaVu Sans"/>
              </a:rPr>
              <a:t>4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24"/>
          <p:cNvSpPr/>
          <p:nvPr/>
        </p:nvSpPr>
        <p:spPr>
          <a:xfrm>
            <a:off x="7534800" y="3136320"/>
            <a:ext cx="1545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4f7fb"/>
                </a:solidFill>
                <a:effectLst/>
                <a:uFillTx/>
                <a:latin typeface="DejaVu Sans"/>
              </a:rPr>
              <a:t>Runtime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25"/>
          <p:cNvSpPr/>
          <p:nvPr/>
        </p:nvSpPr>
        <p:spPr>
          <a:xfrm>
            <a:off x="7534800" y="3611880"/>
            <a:ext cx="1545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a9b1c1"/>
                </a:solidFill>
                <a:effectLst/>
                <a:uFillTx/>
                <a:latin typeface="DejaVu Sans"/>
              </a:rPr>
              <a:t>the model calls</a:t>
            </a:r>
            <a:endParaRPr b="0" lang="en-US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a9b1c1"/>
                </a:solidFill>
                <a:effectLst/>
                <a:uFillTx/>
                <a:latin typeface="DejaVu Sans"/>
              </a:rPr>
              <a:t>tools</a:t>
            </a:r>
            <a:endParaRPr b="0" lang="en-US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26"/>
          <p:cNvSpPr/>
          <p:nvPr/>
        </p:nvSpPr>
        <p:spPr>
          <a:xfrm>
            <a:off x="9317520" y="3291840"/>
            <a:ext cx="246960" cy="360"/>
          </a:xfrm>
          <a:prstGeom prst="line">
            <a:avLst/>
          </a:prstGeom>
          <a:ln w="22860">
            <a:solidFill>
              <a:srgbClr val="30384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27"/>
          <p:cNvSpPr/>
          <p:nvPr/>
        </p:nvSpPr>
        <p:spPr>
          <a:xfrm>
            <a:off x="9637920" y="2148840"/>
            <a:ext cx="1874160" cy="2285640"/>
          </a:xfrm>
          <a:prstGeom prst="roundRect">
            <a:avLst>
              <a:gd name="adj" fmla="val 3902"/>
            </a:avLst>
          </a:prstGeom>
          <a:solidFill>
            <a:srgbClr val="151922"/>
          </a:solidFill>
          <a:ln w="15240">
            <a:solidFill>
              <a:srgbClr val="64d98b">
                <a:alpha val="7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28"/>
          <p:cNvSpPr/>
          <p:nvPr/>
        </p:nvSpPr>
        <p:spPr>
          <a:xfrm>
            <a:off x="10296000" y="2377440"/>
            <a:ext cx="548280" cy="548280"/>
          </a:xfrm>
          <a:prstGeom prst="ellipse">
            <a:avLst/>
          </a:prstGeom>
          <a:solidFill>
            <a:srgbClr val="64d98b"/>
          </a:solidFill>
          <a:ln w="12700">
            <a:solidFill>
              <a:srgbClr val="64d9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29"/>
          <p:cNvSpPr/>
          <p:nvPr/>
        </p:nvSpPr>
        <p:spPr>
          <a:xfrm>
            <a:off x="10296000" y="2487240"/>
            <a:ext cx="548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80a0e"/>
                </a:solidFill>
                <a:effectLst/>
                <a:uFillTx/>
                <a:latin typeface="DejaVu Sans"/>
              </a:rPr>
              <a:t>5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30"/>
          <p:cNvSpPr/>
          <p:nvPr/>
        </p:nvSpPr>
        <p:spPr>
          <a:xfrm>
            <a:off x="9802440" y="3136320"/>
            <a:ext cx="1545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4f7fb"/>
                </a:solidFill>
                <a:effectLst/>
                <a:uFillTx/>
                <a:latin typeface="DejaVu Sans"/>
              </a:rPr>
              <a:t>Result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31"/>
          <p:cNvSpPr/>
          <p:nvPr/>
        </p:nvSpPr>
        <p:spPr>
          <a:xfrm>
            <a:off x="9802440" y="3611880"/>
            <a:ext cx="1545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a9b1c1"/>
                </a:solidFill>
                <a:effectLst/>
                <a:uFillTx/>
                <a:latin typeface="DejaVu Sans"/>
              </a:rPr>
              <a:t>action + reply</a:t>
            </a:r>
            <a:endParaRPr b="0" lang="en-US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a9b1c1"/>
                </a:solidFill>
                <a:effectLst/>
                <a:uFillTx/>
                <a:latin typeface="DejaVu Sans"/>
              </a:rPr>
              <a:t>in the channel</a:t>
            </a:r>
            <a:endParaRPr b="0" lang="en-US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32"/>
          <p:cNvSpPr/>
          <p:nvPr/>
        </p:nvSpPr>
        <p:spPr>
          <a:xfrm>
            <a:off x="932760" y="4956120"/>
            <a:ext cx="10103760" cy="658080"/>
          </a:xfrm>
          <a:prstGeom prst="roundRect">
            <a:avLst>
              <a:gd name="adj" fmla="val 6944"/>
            </a:avLst>
          </a:prstGeom>
          <a:solidFill>
            <a:srgbClr val="ff5a52">
              <a:alpha val="13000"/>
            </a:srgbClr>
          </a:solidFill>
          <a:ln w="12700">
            <a:solidFill>
              <a:srgbClr val="ff5a52">
                <a:alpha val="5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33"/>
          <p:cNvSpPr/>
          <p:nvPr/>
        </p:nvSpPr>
        <p:spPr>
          <a:xfrm>
            <a:off x="1170360" y="5166360"/>
            <a:ext cx="9646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ff7a72"/>
                </a:solidFill>
                <a:effectLst/>
                <a:uFillTx/>
                <a:latin typeface="DejaVu Sans"/>
              </a:rPr>
              <a:t>deterministic routing • tool allow/deny • approvals • sandbox</a:t>
            </a:r>
            <a:endParaRPr b="0" lang="en-US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1"/>
          <p:cNvSpPr>
            <a:spLocks noGrp="1"/>
          </p:cNvSpPr>
          <p:nvPr>
            <p:ph type="sldNum" idx="7"/>
          </p:nvPr>
        </p:nvSpPr>
        <p:spPr>
          <a:xfrm>
            <a:off x="11384280" y="6473880"/>
            <a:ext cx="365400" cy="18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700" strike="noStrike" u="none">
                <a:solidFill>
                  <a:srgbClr val="7d8597"/>
                </a:solidFill>
                <a:effectLst/>
                <a:uFillTx/>
                <a:latin typeface="DejaVu San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5EF0394-F853-4859-91BA-43F4317DC2C8}" type="slidenum">
              <a:rPr b="0" lang="en-US" sz="700" strike="noStrike" u="none">
                <a:solidFill>
                  <a:srgbClr val="7d8597"/>
                </a:solidFill>
                <a:effectLst/>
                <a:uFillTx/>
                <a:latin typeface="DejaVu Sans"/>
                <a:ea typeface="DejaVu Sans"/>
              </a:rPr>
              <a:t>3</a:t>
            </a:fld>
            <a:endParaRPr b="0" lang="en-US" sz="7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 0"/>
          <p:cNvSpPr/>
          <p:nvPr/>
        </p:nvSpPr>
        <p:spPr>
          <a:xfrm>
            <a:off x="502920" y="311040"/>
            <a:ext cx="4388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181" strike="noStrike" u="none">
                <a:solidFill>
                  <a:srgbClr val="ff5a52"/>
                </a:solidFill>
                <a:effectLst/>
                <a:uFillTx/>
                <a:latin typeface="DejaVu Sans"/>
              </a:rPr>
              <a:t>03 · ARCHITECTURE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"/>
          <p:cNvSpPr/>
          <p:nvPr/>
        </p:nvSpPr>
        <p:spPr>
          <a:xfrm>
            <a:off x="502920" y="640080"/>
            <a:ext cx="109724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f4f7fb"/>
                </a:solidFill>
                <a:effectLst/>
                <a:uFillTx/>
                <a:latin typeface="DejaVu Sans"/>
              </a:rPr>
              <a:t>3 Layers</a:t>
            </a:r>
            <a:endParaRPr b="0" lang="en-US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2"/>
          <p:cNvSpPr/>
          <p:nvPr/>
        </p:nvSpPr>
        <p:spPr>
          <a:xfrm>
            <a:off x="567000" y="1444680"/>
            <a:ext cx="11045520" cy="987120"/>
          </a:xfrm>
          <a:prstGeom prst="roundRect">
            <a:avLst>
              <a:gd name="adj" fmla="val 4630"/>
            </a:avLst>
          </a:prstGeom>
          <a:solidFill>
            <a:srgbClr val="151922"/>
          </a:solidFill>
          <a:ln w="12700">
            <a:solidFill>
              <a:srgbClr val="3038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3"/>
          <p:cNvSpPr/>
          <p:nvPr/>
        </p:nvSpPr>
        <p:spPr>
          <a:xfrm>
            <a:off x="567000" y="1444680"/>
            <a:ext cx="2239920" cy="987120"/>
          </a:xfrm>
          <a:prstGeom prst="rect">
            <a:avLst/>
          </a:prstGeom>
          <a:solidFill>
            <a:srgbClr val="4bd6c8">
              <a:alpha val="18000"/>
            </a:srgbClr>
          </a:solidFill>
          <a:ln w="12700">
            <a:solidFill>
              <a:srgbClr val="4bd6c8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4"/>
          <p:cNvSpPr/>
          <p:nvPr/>
        </p:nvSpPr>
        <p:spPr>
          <a:xfrm>
            <a:off x="777240" y="1755720"/>
            <a:ext cx="18468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4bd6c8"/>
                </a:solidFill>
                <a:effectLst/>
                <a:uFillTx/>
                <a:latin typeface="DejaVu Sans"/>
              </a:rPr>
              <a:t>INGRESS AND DELIVERY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5"/>
          <p:cNvSpPr/>
          <p:nvPr/>
        </p:nvSpPr>
        <p:spPr>
          <a:xfrm>
            <a:off x="3063240" y="1764720"/>
            <a:ext cx="1645560" cy="310680"/>
          </a:xfrm>
          <a:prstGeom prst="roundRect">
            <a:avLst>
              <a:gd name="adj" fmla="val 20588"/>
            </a:avLst>
          </a:prstGeom>
          <a:solidFill>
            <a:srgbClr val="4bd6c8">
              <a:alpha val="18000"/>
            </a:srgbClr>
          </a:solidFill>
          <a:ln w="12700">
            <a:solidFill>
              <a:srgbClr val="4bd6c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6"/>
          <p:cNvSpPr/>
          <p:nvPr/>
        </p:nvSpPr>
        <p:spPr>
          <a:xfrm>
            <a:off x="3136320" y="1815120"/>
            <a:ext cx="14994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trike="noStrike" u="none">
                <a:solidFill>
                  <a:srgbClr val="4bd6c8"/>
                </a:solidFill>
                <a:effectLst/>
                <a:uFillTx/>
                <a:latin typeface="DejaVu Sans"/>
              </a:rPr>
              <a:t>WhatsApp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7"/>
          <p:cNvSpPr/>
          <p:nvPr/>
        </p:nvSpPr>
        <p:spPr>
          <a:xfrm>
            <a:off x="5074920" y="1764720"/>
            <a:ext cx="1645560" cy="310680"/>
          </a:xfrm>
          <a:prstGeom prst="roundRect">
            <a:avLst>
              <a:gd name="adj" fmla="val 20588"/>
            </a:avLst>
          </a:prstGeom>
          <a:solidFill>
            <a:srgbClr val="4bd6c8">
              <a:alpha val="18000"/>
            </a:srgbClr>
          </a:solidFill>
          <a:ln w="12700">
            <a:solidFill>
              <a:srgbClr val="4bd6c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8"/>
          <p:cNvSpPr/>
          <p:nvPr/>
        </p:nvSpPr>
        <p:spPr>
          <a:xfrm>
            <a:off x="5148000" y="1815120"/>
            <a:ext cx="14994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trike="noStrike" u="none">
                <a:solidFill>
                  <a:srgbClr val="4bd6c8"/>
                </a:solidFill>
                <a:effectLst/>
                <a:uFillTx/>
                <a:latin typeface="DejaVu Sans"/>
              </a:rPr>
              <a:t>Slack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9"/>
          <p:cNvSpPr/>
          <p:nvPr/>
        </p:nvSpPr>
        <p:spPr>
          <a:xfrm>
            <a:off x="7086600" y="1764720"/>
            <a:ext cx="1645560" cy="310680"/>
          </a:xfrm>
          <a:prstGeom prst="roundRect">
            <a:avLst>
              <a:gd name="adj" fmla="val 20588"/>
            </a:avLst>
          </a:prstGeom>
          <a:solidFill>
            <a:srgbClr val="4bd6c8">
              <a:alpha val="18000"/>
            </a:srgbClr>
          </a:solidFill>
          <a:ln w="12700">
            <a:solidFill>
              <a:srgbClr val="4bd6c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0"/>
          <p:cNvSpPr/>
          <p:nvPr/>
        </p:nvSpPr>
        <p:spPr>
          <a:xfrm>
            <a:off x="7159680" y="1815120"/>
            <a:ext cx="14994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trike="noStrike" u="none">
                <a:solidFill>
                  <a:srgbClr val="4bd6c8"/>
                </a:solidFill>
                <a:effectLst/>
                <a:uFillTx/>
                <a:latin typeface="DejaVu Sans"/>
              </a:rPr>
              <a:t>WebChat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11"/>
          <p:cNvSpPr/>
          <p:nvPr/>
        </p:nvSpPr>
        <p:spPr>
          <a:xfrm>
            <a:off x="9098280" y="1764720"/>
            <a:ext cx="1645560" cy="310680"/>
          </a:xfrm>
          <a:prstGeom prst="roundRect">
            <a:avLst>
              <a:gd name="adj" fmla="val 20588"/>
            </a:avLst>
          </a:prstGeom>
          <a:solidFill>
            <a:srgbClr val="4bd6c8">
              <a:alpha val="18000"/>
            </a:srgbClr>
          </a:solidFill>
          <a:ln w="12700">
            <a:solidFill>
              <a:srgbClr val="4bd6c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12"/>
          <p:cNvSpPr/>
          <p:nvPr/>
        </p:nvSpPr>
        <p:spPr>
          <a:xfrm>
            <a:off x="9171360" y="1815120"/>
            <a:ext cx="14994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trike="noStrike" u="none">
                <a:solidFill>
                  <a:srgbClr val="4bd6c8"/>
                </a:solidFill>
                <a:effectLst/>
                <a:uFillTx/>
                <a:latin typeface="DejaVu Sans"/>
              </a:rPr>
              <a:t>Cron / Webhook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13"/>
          <p:cNvSpPr/>
          <p:nvPr/>
        </p:nvSpPr>
        <p:spPr>
          <a:xfrm>
            <a:off x="6098760" y="2468880"/>
            <a:ext cx="360" cy="283320"/>
          </a:xfrm>
          <a:prstGeom prst="line">
            <a:avLst/>
          </a:prstGeom>
          <a:ln w="20320">
            <a:solidFill>
              <a:srgbClr val="4bd6c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14"/>
          <p:cNvSpPr/>
          <p:nvPr/>
        </p:nvSpPr>
        <p:spPr>
          <a:xfrm>
            <a:off x="567000" y="2788920"/>
            <a:ext cx="11045520" cy="987120"/>
          </a:xfrm>
          <a:prstGeom prst="roundRect">
            <a:avLst>
              <a:gd name="adj" fmla="val 4630"/>
            </a:avLst>
          </a:prstGeom>
          <a:solidFill>
            <a:srgbClr val="151922"/>
          </a:solidFill>
          <a:ln w="12700">
            <a:solidFill>
              <a:srgbClr val="3038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15"/>
          <p:cNvSpPr/>
          <p:nvPr/>
        </p:nvSpPr>
        <p:spPr>
          <a:xfrm>
            <a:off x="567000" y="2788920"/>
            <a:ext cx="2239920" cy="987120"/>
          </a:xfrm>
          <a:prstGeom prst="rect">
            <a:avLst/>
          </a:prstGeom>
          <a:solidFill>
            <a:srgbClr val="ff5a52">
              <a:alpha val="18000"/>
            </a:srgbClr>
          </a:solidFill>
          <a:ln w="12700">
            <a:solidFill>
              <a:srgbClr val="ff5a52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16"/>
          <p:cNvSpPr/>
          <p:nvPr/>
        </p:nvSpPr>
        <p:spPr>
          <a:xfrm>
            <a:off x="777240" y="3099960"/>
            <a:ext cx="18468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5a52"/>
                </a:solidFill>
                <a:effectLst/>
                <a:uFillTx/>
                <a:latin typeface="DejaVu Sans"/>
              </a:rPr>
              <a:t>CONTROL PLANE — GATEWAY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17"/>
          <p:cNvSpPr/>
          <p:nvPr/>
        </p:nvSpPr>
        <p:spPr>
          <a:xfrm>
            <a:off x="3063240" y="3108960"/>
            <a:ext cx="1645560" cy="310680"/>
          </a:xfrm>
          <a:prstGeom prst="roundRect">
            <a:avLst>
              <a:gd name="adj" fmla="val 20588"/>
            </a:avLst>
          </a:prstGeom>
          <a:solidFill>
            <a:srgbClr val="ff5a52">
              <a:alpha val="18000"/>
            </a:srgbClr>
          </a:solidFill>
          <a:ln w="12700">
            <a:solidFill>
              <a:srgbClr val="ff5a52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18"/>
          <p:cNvSpPr/>
          <p:nvPr/>
        </p:nvSpPr>
        <p:spPr>
          <a:xfrm>
            <a:off x="3136320" y="3159360"/>
            <a:ext cx="14994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trike="noStrike" u="none">
                <a:solidFill>
                  <a:srgbClr val="ff5a52"/>
                </a:solidFill>
                <a:effectLst/>
                <a:uFillTx/>
                <a:latin typeface="DejaVu Sans"/>
              </a:rPr>
              <a:t>Bindings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19"/>
          <p:cNvSpPr/>
          <p:nvPr/>
        </p:nvSpPr>
        <p:spPr>
          <a:xfrm>
            <a:off x="5074920" y="3108960"/>
            <a:ext cx="1645560" cy="310680"/>
          </a:xfrm>
          <a:prstGeom prst="roundRect">
            <a:avLst>
              <a:gd name="adj" fmla="val 20588"/>
            </a:avLst>
          </a:prstGeom>
          <a:solidFill>
            <a:srgbClr val="ff5a52">
              <a:alpha val="18000"/>
            </a:srgbClr>
          </a:solidFill>
          <a:ln w="12700">
            <a:solidFill>
              <a:srgbClr val="ff5a52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20"/>
          <p:cNvSpPr/>
          <p:nvPr/>
        </p:nvSpPr>
        <p:spPr>
          <a:xfrm>
            <a:off x="5148000" y="3159360"/>
            <a:ext cx="14994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trike="noStrike" u="none">
                <a:solidFill>
                  <a:srgbClr val="ff5a52"/>
                </a:solidFill>
                <a:effectLst/>
                <a:uFillTx/>
                <a:latin typeface="DejaVu Sans"/>
              </a:rPr>
              <a:t>Agents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21"/>
          <p:cNvSpPr/>
          <p:nvPr/>
        </p:nvSpPr>
        <p:spPr>
          <a:xfrm>
            <a:off x="7086600" y="3108960"/>
            <a:ext cx="1645560" cy="310680"/>
          </a:xfrm>
          <a:prstGeom prst="roundRect">
            <a:avLst>
              <a:gd name="adj" fmla="val 20588"/>
            </a:avLst>
          </a:prstGeom>
          <a:solidFill>
            <a:srgbClr val="ff5a52">
              <a:alpha val="18000"/>
            </a:srgbClr>
          </a:solidFill>
          <a:ln w="12700">
            <a:solidFill>
              <a:srgbClr val="ff5a52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22"/>
          <p:cNvSpPr/>
          <p:nvPr/>
        </p:nvSpPr>
        <p:spPr>
          <a:xfrm>
            <a:off x="7159680" y="3159360"/>
            <a:ext cx="14994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trike="noStrike" u="none">
                <a:solidFill>
                  <a:srgbClr val="ff5a52"/>
                </a:solidFill>
                <a:effectLst/>
                <a:uFillTx/>
                <a:latin typeface="DejaVu Sans"/>
              </a:rPr>
              <a:t>Sessions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23"/>
          <p:cNvSpPr/>
          <p:nvPr/>
        </p:nvSpPr>
        <p:spPr>
          <a:xfrm>
            <a:off x="9098280" y="3108960"/>
            <a:ext cx="1645560" cy="310680"/>
          </a:xfrm>
          <a:prstGeom prst="roundRect">
            <a:avLst>
              <a:gd name="adj" fmla="val 20588"/>
            </a:avLst>
          </a:prstGeom>
          <a:solidFill>
            <a:srgbClr val="ff5a52">
              <a:alpha val="18000"/>
            </a:srgbClr>
          </a:solidFill>
          <a:ln w="12700">
            <a:solidFill>
              <a:srgbClr val="ff5a52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24"/>
          <p:cNvSpPr/>
          <p:nvPr/>
        </p:nvSpPr>
        <p:spPr>
          <a:xfrm>
            <a:off x="9171360" y="3159360"/>
            <a:ext cx="14994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trike="noStrike" u="none">
                <a:solidFill>
                  <a:srgbClr val="ff5a52"/>
                </a:solidFill>
                <a:effectLst/>
                <a:uFillTx/>
                <a:latin typeface="DejaVu Sans"/>
              </a:rPr>
              <a:t>Policies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25"/>
          <p:cNvSpPr/>
          <p:nvPr/>
        </p:nvSpPr>
        <p:spPr>
          <a:xfrm>
            <a:off x="6098760" y="3812760"/>
            <a:ext cx="360" cy="283680"/>
          </a:xfrm>
          <a:prstGeom prst="line">
            <a:avLst/>
          </a:prstGeom>
          <a:ln w="20320">
            <a:solidFill>
              <a:srgbClr val="ff5a5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26"/>
          <p:cNvSpPr/>
          <p:nvPr/>
        </p:nvSpPr>
        <p:spPr>
          <a:xfrm>
            <a:off x="567000" y="4133160"/>
            <a:ext cx="11045520" cy="987120"/>
          </a:xfrm>
          <a:prstGeom prst="roundRect">
            <a:avLst>
              <a:gd name="adj" fmla="val 4630"/>
            </a:avLst>
          </a:prstGeom>
          <a:solidFill>
            <a:srgbClr val="151922"/>
          </a:solidFill>
          <a:ln w="12700">
            <a:solidFill>
              <a:srgbClr val="3038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27"/>
          <p:cNvSpPr/>
          <p:nvPr/>
        </p:nvSpPr>
        <p:spPr>
          <a:xfrm>
            <a:off x="567000" y="4133160"/>
            <a:ext cx="2239920" cy="987120"/>
          </a:xfrm>
          <a:prstGeom prst="rect">
            <a:avLst/>
          </a:prstGeom>
          <a:solidFill>
            <a:srgbClr val="f6c85f">
              <a:alpha val="18000"/>
            </a:srgbClr>
          </a:solidFill>
          <a:ln w="12700">
            <a:solidFill>
              <a:srgbClr val="f6c85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28"/>
          <p:cNvSpPr/>
          <p:nvPr/>
        </p:nvSpPr>
        <p:spPr>
          <a:xfrm>
            <a:off x="777240" y="4443840"/>
            <a:ext cx="18468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6c85f"/>
                </a:solidFill>
                <a:effectLst/>
                <a:uFillTx/>
                <a:latin typeface="DejaVu Sans"/>
              </a:rPr>
              <a:t>EXECUTION AND STATE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29"/>
          <p:cNvSpPr/>
          <p:nvPr/>
        </p:nvSpPr>
        <p:spPr>
          <a:xfrm>
            <a:off x="3063240" y="4453200"/>
            <a:ext cx="1645560" cy="310680"/>
          </a:xfrm>
          <a:prstGeom prst="roundRect">
            <a:avLst>
              <a:gd name="adj" fmla="val 20588"/>
            </a:avLst>
          </a:prstGeom>
          <a:solidFill>
            <a:srgbClr val="f6c85f">
              <a:alpha val="18000"/>
            </a:srgbClr>
          </a:solidFill>
          <a:ln w="12700">
            <a:solidFill>
              <a:srgbClr val="f6c85f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30"/>
          <p:cNvSpPr/>
          <p:nvPr/>
        </p:nvSpPr>
        <p:spPr>
          <a:xfrm>
            <a:off x="3136320" y="4503600"/>
            <a:ext cx="14994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trike="noStrike" u="none">
                <a:solidFill>
                  <a:srgbClr val="f6c85f"/>
                </a:solidFill>
                <a:effectLst/>
                <a:uFillTx/>
                <a:latin typeface="DejaVu Sans"/>
              </a:rPr>
              <a:t>Models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31"/>
          <p:cNvSpPr/>
          <p:nvPr/>
        </p:nvSpPr>
        <p:spPr>
          <a:xfrm>
            <a:off x="5074920" y="4453200"/>
            <a:ext cx="1645560" cy="310680"/>
          </a:xfrm>
          <a:prstGeom prst="roundRect">
            <a:avLst>
              <a:gd name="adj" fmla="val 20588"/>
            </a:avLst>
          </a:prstGeom>
          <a:solidFill>
            <a:srgbClr val="f6c85f">
              <a:alpha val="18000"/>
            </a:srgbClr>
          </a:solidFill>
          <a:ln w="12700">
            <a:solidFill>
              <a:srgbClr val="f6c85f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32"/>
          <p:cNvSpPr/>
          <p:nvPr/>
        </p:nvSpPr>
        <p:spPr>
          <a:xfrm>
            <a:off x="5148000" y="4503600"/>
            <a:ext cx="14994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trike="noStrike" u="none">
                <a:solidFill>
                  <a:srgbClr val="f6c85f"/>
                </a:solidFill>
                <a:effectLst/>
                <a:uFillTx/>
                <a:latin typeface="DejaVu Sans"/>
              </a:rPr>
              <a:t>Tools / Skills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33"/>
          <p:cNvSpPr/>
          <p:nvPr/>
        </p:nvSpPr>
        <p:spPr>
          <a:xfrm>
            <a:off x="7086600" y="4453200"/>
            <a:ext cx="1645560" cy="310680"/>
          </a:xfrm>
          <a:prstGeom prst="roundRect">
            <a:avLst>
              <a:gd name="adj" fmla="val 20588"/>
            </a:avLst>
          </a:prstGeom>
          <a:solidFill>
            <a:srgbClr val="f6c85f">
              <a:alpha val="18000"/>
            </a:srgbClr>
          </a:solidFill>
          <a:ln w="12700">
            <a:solidFill>
              <a:srgbClr val="f6c85f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34"/>
          <p:cNvSpPr/>
          <p:nvPr/>
        </p:nvSpPr>
        <p:spPr>
          <a:xfrm>
            <a:off x="7159680" y="4503600"/>
            <a:ext cx="14994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trike="noStrike" u="none">
                <a:solidFill>
                  <a:srgbClr val="f6c85f"/>
                </a:solidFill>
                <a:effectLst/>
                <a:uFillTx/>
                <a:latin typeface="DejaVu Sans"/>
              </a:rPr>
              <a:t>Workspace / Memory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35"/>
          <p:cNvSpPr/>
          <p:nvPr/>
        </p:nvSpPr>
        <p:spPr>
          <a:xfrm>
            <a:off x="9098280" y="4453200"/>
            <a:ext cx="1645560" cy="310680"/>
          </a:xfrm>
          <a:prstGeom prst="roundRect">
            <a:avLst>
              <a:gd name="adj" fmla="val 20588"/>
            </a:avLst>
          </a:prstGeom>
          <a:solidFill>
            <a:srgbClr val="f6c85f">
              <a:alpha val="18000"/>
            </a:srgbClr>
          </a:solidFill>
          <a:ln w="12700">
            <a:solidFill>
              <a:srgbClr val="f6c85f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36"/>
          <p:cNvSpPr/>
          <p:nvPr/>
        </p:nvSpPr>
        <p:spPr>
          <a:xfrm>
            <a:off x="9171360" y="4503600"/>
            <a:ext cx="14994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trike="noStrike" u="none">
                <a:solidFill>
                  <a:srgbClr val="f6c85f"/>
                </a:solidFill>
                <a:effectLst/>
                <a:uFillTx/>
                <a:latin typeface="DejaVu Sans"/>
              </a:rPr>
              <a:t>Nodes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39"/>
          <p:cNvSpPr/>
          <p:nvPr/>
        </p:nvSpPr>
        <p:spPr>
          <a:xfrm>
            <a:off x="1874520" y="6473880"/>
            <a:ext cx="90064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20" strike="noStrike" u="none">
                <a:solidFill>
                  <a:srgbClr val="70798b"/>
                </a:solidFill>
                <a:effectLst/>
                <a:uFillTx/>
                <a:latin typeface="DejaVu Sans"/>
              </a:rPr>
              <a:t>A session is conversation context; the security boundary comes from policies, approvals, and sandboxing.</a:t>
            </a:r>
            <a:endParaRPr b="0" lang="en-US" sz="6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PlaceHolder 1"/>
          <p:cNvSpPr>
            <a:spLocks noGrp="1"/>
          </p:cNvSpPr>
          <p:nvPr>
            <p:ph type="sldNum" idx="8"/>
          </p:nvPr>
        </p:nvSpPr>
        <p:spPr>
          <a:xfrm>
            <a:off x="11384280" y="6473880"/>
            <a:ext cx="365400" cy="18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700" strike="noStrike" u="none">
                <a:solidFill>
                  <a:srgbClr val="7d8597"/>
                </a:solidFill>
                <a:effectLst/>
                <a:uFillTx/>
                <a:latin typeface="DejaVu San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124C5C3-D90C-4FAE-A6F4-0BD9B9BD57B9}" type="slidenum">
              <a:rPr b="0" lang="en-US" sz="700" strike="noStrike" u="none">
                <a:solidFill>
                  <a:srgbClr val="7d8597"/>
                </a:solidFill>
                <a:effectLst/>
                <a:uFillTx/>
                <a:latin typeface="DejaVu Sans"/>
                <a:ea typeface="DejaVu Sans"/>
              </a:rPr>
              <a:t>4</a:t>
            </a:fld>
            <a:endParaRPr b="0" lang="en-US" sz="7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ext 0"/>
          <p:cNvSpPr/>
          <p:nvPr/>
        </p:nvSpPr>
        <p:spPr>
          <a:xfrm>
            <a:off x="502920" y="311040"/>
            <a:ext cx="4388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181" strike="noStrike" u="none">
                <a:solidFill>
                  <a:srgbClr val="ff5a52"/>
                </a:solidFill>
                <a:effectLst/>
                <a:uFillTx/>
                <a:latin typeface="DejaVu Sans"/>
              </a:rPr>
              <a:t>04 · WORKSPACE + NODES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"/>
          <p:cNvSpPr/>
          <p:nvPr/>
        </p:nvSpPr>
        <p:spPr>
          <a:xfrm>
            <a:off x="502920" y="640080"/>
            <a:ext cx="109724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f4f7fb"/>
                </a:solidFill>
                <a:effectLst/>
                <a:uFillTx/>
                <a:latin typeface="DejaVu Sans"/>
              </a:rPr>
              <a:t>Personality, memory, and reach</a:t>
            </a:r>
            <a:endParaRPr b="0" lang="en-US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2"/>
          <p:cNvSpPr/>
          <p:nvPr/>
        </p:nvSpPr>
        <p:spPr>
          <a:xfrm>
            <a:off x="511920" y="1307520"/>
            <a:ext cx="101494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a9b1c1"/>
                </a:solidFill>
                <a:effectLst/>
                <a:uFillTx/>
                <a:latin typeface="DejaVu Sans"/>
              </a:rPr>
              <a:t>The workspace prepares context. Nodes extend approved actions to other machines.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3"/>
          <p:cNvSpPr/>
          <p:nvPr/>
        </p:nvSpPr>
        <p:spPr>
          <a:xfrm>
            <a:off x="640080" y="1901880"/>
            <a:ext cx="2011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50" strike="noStrike" u="none">
                <a:solidFill>
                  <a:srgbClr val="ff5a52"/>
                </a:solidFill>
                <a:effectLst/>
                <a:uFillTx/>
                <a:latin typeface="DejaVu Sans"/>
              </a:rPr>
              <a:t>WORKSPACE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4"/>
          <p:cNvSpPr/>
          <p:nvPr/>
        </p:nvSpPr>
        <p:spPr>
          <a:xfrm>
            <a:off x="621720" y="2331720"/>
            <a:ext cx="2148480" cy="621360"/>
          </a:xfrm>
          <a:prstGeom prst="roundRect">
            <a:avLst>
              <a:gd name="adj" fmla="val 5882"/>
            </a:avLst>
          </a:prstGeom>
          <a:solidFill>
            <a:srgbClr val="151922"/>
          </a:solidFill>
          <a:ln w="12700">
            <a:solidFill>
              <a:srgbClr val="3038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5"/>
          <p:cNvSpPr/>
          <p:nvPr/>
        </p:nvSpPr>
        <p:spPr>
          <a:xfrm>
            <a:off x="768240" y="2441520"/>
            <a:ext cx="8683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f4f7fb"/>
                </a:solidFill>
                <a:effectLst/>
                <a:uFillTx/>
                <a:latin typeface="DejaVu Sans"/>
              </a:rPr>
              <a:t>AGENTS.md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6"/>
          <p:cNvSpPr/>
          <p:nvPr/>
        </p:nvSpPr>
        <p:spPr>
          <a:xfrm>
            <a:off x="768240" y="2679120"/>
            <a:ext cx="18284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20" strike="noStrike" u="none">
                <a:solidFill>
                  <a:srgbClr val="a9b1c1"/>
                </a:solidFill>
                <a:effectLst/>
                <a:uFillTx/>
                <a:latin typeface="DejaVu Sans"/>
              </a:rPr>
              <a:t>rules and priorities</a:t>
            </a:r>
            <a:endParaRPr b="0" lang="en-US" sz="7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7"/>
          <p:cNvSpPr/>
          <p:nvPr/>
        </p:nvSpPr>
        <p:spPr>
          <a:xfrm>
            <a:off x="3044880" y="2331720"/>
            <a:ext cx="2148480" cy="621360"/>
          </a:xfrm>
          <a:prstGeom prst="roundRect">
            <a:avLst>
              <a:gd name="adj" fmla="val 5882"/>
            </a:avLst>
          </a:prstGeom>
          <a:solidFill>
            <a:srgbClr val="151922"/>
          </a:solidFill>
          <a:ln w="12700">
            <a:solidFill>
              <a:srgbClr val="3038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8"/>
          <p:cNvSpPr/>
          <p:nvPr/>
        </p:nvSpPr>
        <p:spPr>
          <a:xfrm>
            <a:off x="3191400" y="2441520"/>
            <a:ext cx="8683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f4f7fb"/>
                </a:solidFill>
                <a:effectLst/>
                <a:uFillTx/>
                <a:latin typeface="DejaVu Sans"/>
              </a:rPr>
              <a:t>SOUL.md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9"/>
          <p:cNvSpPr/>
          <p:nvPr/>
        </p:nvSpPr>
        <p:spPr>
          <a:xfrm>
            <a:off x="3191400" y="2679120"/>
            <a:ext cx="18284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20" strike="noStrike" u="none">
                <a:solidFill>
                  <a:srgbClr val="a9b1c1"/>
                </a:solidFill>
                <a:effectLst/>
                <a:uFillTx/>
                <a:latin typeface="DejaVu Sans"/>
              </a:rPr>
              <a:t>persona and boundaries</a:t>
            </a:r>
            <a:endParaRPr b="0" lang="en-US" sz="7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10"/>
          <p:cNvSpPr/>
          <p:nvPr/>
        </p:nvSpPr>
        <p:spPr>
          <a:xfrm>
            <a:off x="621720" y="3173040"/>
            <a:ext cx="2148480" cy="621360"/>
          </a:xfrm>
          <a:prstGeom prst="roundRect">
            <a:avLst>
              <a:gd name="adj" fmla="val 5882"/>
            </a:avLst>
          </a:prstGeom>
          <a:solidFill>
            <a:srgbClr val="151922"/>
          </a:solidFill>
          <a:ln w="12700">
            <a:solidFill>
              <a:srgbClr val="3038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11"/>
          <p:cNvSpPr/>
          <p:nvPr/>
        </p:nvSpPr>
        <p:spPr>
          <a:xfrm>
            <a:off x="768240" y="3282840"/>
            <a:ext cx="8683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f4f7fb"/>
                </a:solidFill>
                <a:effectLst/>
                <a:uFillTx/>
                <a:latin typeface="DejaVu Sans"/>
              </a:rPr>
              <a:t>USER.md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12"/>
          <p:cNvSpPr/>
          <p:nvPr/>
        </p:nvSpPr>
        <p:spPr>
          <a:xfrm>
            <a:off x="768240" y="3520440"/>
            <a:ext cx="18284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20" strike="noStrike" u="none">
                <a:solidFill>
                  <a:srgbClr val="a9b1c1"/>
                </a:solidFill>
                <a:effectLst/>
                <a:uFillTx/>
                <a:latin typeface="DejaVu Sans"/>
              </a:rPr>
              <a:t>stable preferences</a:t>
            </a:r>
            <a:endParaRPr b="0" lang="en-US" sz="7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13"/>
          <p:cNvSpPr/>
          <p:nvPr/>
        </p:nvSpPr>
        <p:spPr>
          <a:xfrm>
            <a:off x="3044880" y="3173040"/>
            <a:ext cx="2148480" cy="621360"/>
          </a:xfrm>
          <a:prstGeom prst="roundRect">
            <a:avLst>
              <a:gd name="adj" fmla="val 5882"/>
            </a:avLst>
          </a:prstGeom>
          <a:solidFill>
            <a:srgbClr val="151922"/>
          </a:solidFill>
          <a:ln w="12700">
            <a:solidFill>
              <a:srgbClr val="3038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14"/>
          <p:cNvSpPr/>
          <p:nvPr/>
        </p:nvSpPr>
        <p:spPr>
          <a:xfrm>
            <a:off x="3191400" y="3282840"/>
            <a:ext cx="8683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f4f7fb"/>
                </a:solidFill>
                <a:effectLst/>
                <a:uFillTx/>
                <a:latin typeface="DejaVu Sans"/>
              </a:rPr>
              <a:t>MEMORY.md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15"/>
          <p:cNvSpPr/>
          <p:nvPr/>
        </p:nvSpPr>
        <p:spPr>
          <a:xfrm>
            <a:off x="3191400" y="3520440"/>
            <a:ext cx="18284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20" strike="noStrike" u="none">
                <a:solidFill>
                  <a:srgbClr val="a9b1c1"/>
                </a:solidFill>
                <a:effectLst/>
                <a:uFillTx/>
                <a:latin typeface="DejaVu Sans"/>
              </a:rPr>
              <a:t>curated memory</a:t>
            </a:r>
            <a:endParaRPr b="0" lang="en-US" sz="7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16"/>
          <p:cNvSpPr/>
          <p:nvPr/>
        </p:nvSpPr>
        <p:spPr>
          <a:xfrm>
            <a:off x="621720" y="4014360"/>
            <a:ext cx="2148480" cy="621360"/>
          </a:xfrm>
          <a:prstGeom prst="roundRect">
            <a:avLst>
              <a:gd name="adj" fmla="val 5882"/>
            </a:avLst>
          </a:prstGeom>
          <a:solidFill>
            <a:srgbClr val="151922"/>
          </a:solidFill>
          <a:ln w="12700">
            <a:solidFill>
              <a:srgbClr val="3038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17"/>
          <p:cNvSpPr/>
          <p:nvPr/>
        </p:nvSpPr>
        <p:spPr>
          <a:xfrm>
            <a:off x="768240" y="4123800"/>
            <a:ext cx="8683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f4f7fb"/>
                </a:solidFill>
                <a:effectLst/>
                <a:uFillTx/>
                <a:latin typeface="DejaVu Sans"/>
              </a:rPr>
              <a:t>memory/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18"/>
          <p:cNvSpPr/>
          <p:nvPr/>
        </p:nvSpPr>
        <p:spPr>
          <a:xfrm>
            <a:off x="768240" y="4361760"/>
            <a:ext cx="18284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20" strike="noStrike" u="none">
                <a:solidFill>
                  <a:srgbClr val="a9b1c1"/>
                </a:solidFill>
                <a:effectLst/>
                <a:uFillTx/>
                <a:latin typeface="DejaVu Sans"/>
              </a:rPr>
              <a:t>daily logs</a:t>
            </a:r>
            <a:endParaRPr b="0" lang="en-US" sz="7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19"/>
          <p:cNvSpPr/>
          <p:nvPr/>
        </p:nvSpPr>
        <p:spPr>
          <a:xfrm>
            <a:off x="3044880" y="4014360"/>
            <a:ext cx="2148480" cy="621360"/>
          </a:xfrm>
          <a:prstGeom prst="roundRect">
            <a:avLst>
              <a:gd name="adj" fmla="val 5882"/>
            </a:avLst>
          </a:prstGeom>
          <a:solidFill>
            <a:srgbClr val="151922"/>
          </a:solidFill>
          <a:ln w="12700">
            <a:solidFill>
              <a:srgbClr val="3038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20"/>
          <p:cNvSpPr/>
          <p:nvPr/>
        </p:nvSpPr>
        <p:spPr>
          <a:xfrm>
            <a:off x="3191400" y="4123800"/>
            <a:ext cx="8683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f4f7fb"/>
                </a:solidFill>
                <a:effectLst/>
                <a:uFillTx/>
                <a:latin typeface="DejaVu Sans"/>
              </a:rPr>
              <a:t>skills/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21"/>
          <p:cNvSpPr/>
          <p:nvPr/>
        </p:nvSpPr>
        <p:spPr>
          <a:xfrm>
            <a:off x="3191400" y="4361760"/>
            <a:ext cx="18284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20" strike="noStrike" u="none">
                <a:solidFill>
                  <a:srgbClr val="a9b1c1"/>
                </a:solidFill>
                <a:effectLst/>
                <a:uFillTx/>
                <a:latin typeface="DejaVu Sans"/>
              </a:rPr>
              <a:t>reusable instructions</a:t>
            </a:r>
            <a:endParaRPr b="0" lang="en-US" sz="7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22"/>
          <p:cNvSpPr/>
          <p:nvPr/>
        </p:nvSpPr>
        <p:spPr>
          <a:xfrm>
            <a:off x="6537960" y="1901880"/>
            <a:ext cx="2011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50" strike="noStrike" u="none">
                <a:solidFill>
                  <a:srgbClr val="4bd6c8"/>
                </a:solidFill>
                <a:effectLst/>
                <a:uFillTx/>
                <a:latin typeface="DejaVu Sans"/>
              </a:rPr>
              <a:t>NODE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23"/>
          <p:cNvSpPr/>
          <p:nvPr/>
        </p:nvSpPr>
        <p:spPr>
          <a:xfrm>
            <a:off x="6510600" y="2359080"/>
            <a:ext cx="1919880" cy="1051200"/>
          </a:xfrm>
          <a:prstGeom prst="roundRect">
            <a:avLst>
              <a:gd name="adj" fmla="val 4348"/>
            </a:avLst>
          </a:prstGeom>
          <a:solidFill>
            <a:srgbClr val="1c2230"/>
          </a:solidFill>
          <a:ln w="12700">
            <a:solidFill>
              <a:srgbClr val="4bd6c8">
                <a:alpha val="7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24"/>
          <p:cNvSpPr/>
          <p:nvPr/>
        </p:nvSpPr>
        <p:spPr>
          <a:xfrm>
            <a:off x="6784920" y="270648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4f7fb"/>
                </a:solidFill>
                <a:effectLst/>
                <a:uFillTx/>
                <a:latin typeface="DejaVu Sans"/>
              </a:rPr>
              <a:t>Gateway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25"/>
          <p:cNvSpPr/>
          <p:nvPr/>
        </p:nvSpPr>
        <p:spPr>
          <a:xfrm>
            <a:off x="9418320" y="1783080"/>
            <a:ext cx="2057040" cy="868320"/>
          </a:xfrm>
          <a:prstGeom prst="roundRect">
            <a:avLst>
              <a:gd name="adj" fmla="val 5263"/>
            </a:avLst>
          </a:prstGeom>
          <a:solidFill>
            <a:srgbClr val="151922"/>
          </a:solidFill>
          <a:ln w="12700">
            <a:solidFill>
              <a:srgbClr val="4bd6c8">
                <a:alpha val="5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26"/>
          <p:cNvSpPr/>
          <p:nvPr/>
        </p:nvSpPr>
        <p:spPr>
          <a:xfrm>
            <a:off x="9582840" y="1929240"/>
            <a:ext cx="639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4f7fb"/>
                </a:solidFill>
                <a:effectLst/>
                <a:uFillTx/>
                <a:latin typeface="DejaVu Sans"/>
              </a:rPr>
              <a:t>Mac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27"/>
          <p:cNvSpPr/>
          <p:nvPr/>
        </p:nvSpPr>
        <p:spPr>
          <a:xfrm>
            <a:off x="9582840" y="2267640"/>
            <a:ext cx="17186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20" strike="noStrike" u="none">
                <a:solidFill>
                  <a:srgbClr val="a9b1c1"/>
                </a:solidFill>
                <a:effectLst/>
                <a:uFillTx/>
                <a:latin typeface="DejaVu Sans"/>
              </a:rPr>
              <a:t>screen · apps · notifications</a:t>
            </a:r>
            <a:endParaRPr b="0" lang="en-US" sz="7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28"/>
          <p:cNvSpPr/>
          <p:nvPr/>
        </p:nvSpPr>
        <p:spPr>
          <a:xfrm flipV="1">
            <a:off x="8458200" y="2212560"/>
            <a:ext cx="886680" cy="667800"/>
          </a:xfrm>
          <a:prstGeom prst="line">
            <a:avLst/>
          </a:prstGeom>
          <a:ln w="17780">
            <a:solidFill>
              <a:srgbClr val="4bd6c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29"/>
          <p:cNvSpPr/>
          <p:nvPr/>
        </p:nvSpPr>
        <p:spPr>
          <a:xfrm>
            <a:off x="9418320" y="3182040"/>
            <a:ext cx="2057040" cy="868320"/>
          </a:xfrm>
          <a:prstGeom prst="roundRect">
            <a:avLst>
              <a:gd name="adj" fmla="val 5263"/>
            </a:avLst>
          </a:prstGeom>
          <a:solidFill>
            <a:srgbClr val="151922"/>
          </a:solidFill>
          <a:ln w="12700">
            <a:solidFill>
              <a:srgbClr val="4bd6c8">
                <a:alpha val="5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30"/>
          <p:cNvSpPr/>
          <p:nvPr/>
        </p:nvSpPr>
        <p:spPr>
          <a:xfrm>
            <a:off x="9582840" y="3328560"/>
            <a:ext cx="639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4f7fb"/>
                </a:solidFill>
                <a:effectLst/>
                <a:uFillTx/>
                <a:latin typeface="DejaVu Sans"/>
              </a:rPr>
              <a:t>Lab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31"/>
          <p:cNvSpPr/>
          <p:nvPr/>
        </p:nvSpPr>
        <p:spPr>
          <a:xfrm>
            <a:off x="9582840" y="3666600"/>
            <a:ext cx="17186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20" strike="noStrike" u="none">
                <a:solidFill>
                  <a:srgbClr val="a9b1c1"/>
                </a:solidFill>
                <a:effectLst/>
                <a:uFillTx/>
                <a:latin typeface="DejaVu Sans"/>
              </a:rPr>
              <a:t>allowlisted commands</a:t>
            </a:r>
            <a:endParaRPr b="0" lang="en-US" sz="7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32"/>
          <p:cNvSpPr/>
          <p:nvPr/>
        </p:nvSpPr>
        <p:spPr>
          <a:xfrm>
            <a:off x="8458200" y="2880360"/>
            <a:ext cx="886680" cy="731520"/>
          </a:xfrm>
          <a:prstGeom prst="line">
            <a:avLst/>
          </a:prstGeom>
          <a:ln w="17780">
            <a:solidFill>
              <a:srgbClr val="4bd6c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33"/>
          <p:cNvSpPr/>
          <p:nvPr/>
        </p:nvSpPr>
        <p:spPr>
          <a:xfrm>
            <a:off x="9418320" y="4581000"/>
            <a:ext cx="2057040" cy="868320"/>
          </a:xfrm>
          <a:prstGeom prst="roundRect">
            <a:avLst>
              <a:gd name="adj" fmla="val 5263"/>
            </a:avLst>
          </a:prstGeom>
          <a:solidFill>
            <a:srgbClr val="151922"/>
          </a:solidFill>
          <a:ln w="12700">
            <a:solidFill>
              <a:srgbClr val="4bd6c8">
                <a:alpha val="5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34"/>
          <p:cNvSpPr/>
          <p:nvPr/>
        </p:nvSpPr>
        <p:spPr>
          <a:xfrm>
            <a:off x="9582840" y="4727520"/>
            <a:ext cx="639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4f7fb"/>
                </a:solidFill>
                <a:effectLst/>
                <a:uFillTx/>
                <a:latin typeface="DejaVu Sans"/>
              </a:rPr>
              <a:t>Mobile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35"/>
          <p:cNvSpPr/>
          <p:nvPr/>
        </p:nvSpPr>
        <p:spPr>
          <a:xfrm>
            <a:off x="9582840" y="5065920"/>
            <a:ext cx="17186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20" strike="noStrike" u="none">
                <a:solidFill>
                  <a:srgbClr val="a9b1c1"/>
                </a:solidFill>
                <a:effectLst/>
                <a:uFillTx/>
                <a:latin typeface="DejaVu Sans"/>
              </a:rPr>
              <a:t>camera · location</a:t>
            </a:r>
            <a:endParaRPr b="0" lang="en-US" sz="7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36"/>
          <p:cNvSpPr/>
          <p:nvPr/>
        </p:nvSpPr>
        <p:spPr>
          <a:xfrm>
            <a:off x="8458200" y="2880360"/>
            <a:ext cx="886680" cy="2130480"/>
          </a:xfrm>
          <a:prstGeom prst="line">
            <a:avLst/>
          </a:prstGeom>
          <a:ln w="17780">
            <a:solidFill>
              <a:srgbClr val="4bd6c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37"/>
          <p:cNvSpPr/>
          <p:nvPr/>
        </p:nvSpPr>
        <p:spPr>
          <a:xfrm>
            <a:off x="6537960" y="3913560"/>
            <a:ext cx="1965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6c85f"/>
                </a:solidFill>
                <a:effectLst/>
                <a:uFillTx/>
                <a:latin typeface="DejaVu Sans"/>
              </a:rPr>
              <a:t>Pairing ≠ permission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38"/>
          <p:cNvSpPr/>
          <p:nvPr/>
        </p:nvSpPr>
        <p:spPr>
          <a:xfrm>
            <a:off x="6510600" y="4343400"/>
            <a:ext cx="20113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a9b1c1"/>
                </a:solidFill>
                <a:effectLst/>
                <a:uFillTx/>
                <a:latin typeface="DejaVu Sans"/>
              </a:rPr>
              <a:t>Execution remains subject to approvals and allowlists.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39"/>
          <p:cNvSpPr/>
          <p:nvPr/>
        </p:nvSpPr>
        <p:spPr>
          <a:xfrm>
            <a:off x="1874520" y="6473880"/>
            <a:ext cx="90064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20" strike="noStrike" u="none">
                <a:solidFill>
                  <a:srgbClr val="70798b"/>
                </a:solidFill>
                <a:effectLst/>
                <a:uFillTx/>
                <a:latin typeface="DejaVu Sans"/>
              </a:rPr>
              <a:t>Sources: docs.openclaw.ai/concepts/agent-workspace · docs.openclaw.ai/nodes</a:t>
            </a:r>
            <a:endParaRPr b="0" lang="en-US" sz="6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PlaceHolder 1"/>
          <p:cNvSpPr>
            <a:spLocks noGrp="1"/>
          </p:cNvSpPr>
          <p:nvPr>
            <p:ph type="sldNum" idx="9"/>
          </p:nvPr>
        </p:nvSpPr>
        <p:spPr>
          <a:xfrm>
            <a:off x="11384280" y="6473880"/>
            <a:ext cx="365400" cy="18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700" strike="noStrike" u="none">
                <a:solidFill>
                  <a:srgbClr val="7d8597"/>
                </a:solidFill>
                <a:effectLst/>
                <a:uFillTx/>
                <a:latin typeface="DejaVu San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0DE326C-9D1E-4951-A83E-CE7652BA2ECB}" type="slidenum">
              <a:rPr b="0" lang="en-US" sz="700" strike="noStrike" u="none">
                <a:solidFill>
                  <a:srgbClr val="7d8597"/>
                </a:solidFill>
                <a:effectLst/>
                <a:uFillTx/>
                <a:latin typeface="DejaVu Sans"/>
                <a:ea typeface="DejaVu Sans"/>
              </a:rPr>
              <a:t>5</a:t>
            </a:fld>
            <a:endParaRPr b="0" lang="en-US" sz="7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Text 0"/>
          <p:cNvSpPr/>
          <p:nvPr/>
        </p:nvSpPr>
        <p:spPr>
          <a:xfrm>
            <a:off x="502920" y="311040"/>
            <a:ext cx="4388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181" strike="noStrike" u="none">
                <a:solidFill>
                  <a:srgbClr val="ff5a52"/>
                </a:solidFill>
                <a:effectLst/>
                <a:uFillTx/>
                <a:latin typeface="DejaVu Sans"/>
              </a:rPr>
              <a:t>05 · TRADE-OFFS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1"/>
          <p:cNvSpPr/>
          <p:nvPr/>
        </p:nvSpPr>
        <p:spPr>
          <a:xfrm>
            <a:off x="502920" y="640080"/>
            <a:ext cx="109724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f4f7fb"/>
                </a:solidFill>
                <a:effectLst/>
                <a:uFillTx/>
                <a:latin typeface="DejaVu Sans"/>
              </a:rPr>
              <a:t>Where it shines vs where it hurts</a:t>
            </a:r>
            <a:endParaRPr b="0" lang="en-US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2"/>
          <p:cNvSpPr/>
          <p:nvPr/>
        </p:nvSpPr>
        <p:spPr>
          <a:xfrm>
            <a:off x="621720" y="1417320"/>
            <a:ext cx="5257440" cy="4525920"/>
          </a:xfrm>
          <a:prstGeom prst="roundRect">
            <a:avLst>
              <a:gd name="adj" fmla="val 1212"/>
            </a:avLst>
          </a:prstGeom>
          <a:solidFill>
            <a:srgbClr val="64d98b">
              <a:alpha val="8000"/>
            </a:srgbClr>
          </a:solidFill>
          <a:ln w="12700">
            <a:solidFill>
              <a:srgbClr val="64d98b">
                <a:alpha val="5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3"/>
          <p:cNvSpPr/>
          <p:nvPr/>
        </p:nvSpPr>
        <p:spPr>
          <a:xfrm>
            <a:off x="6309360" y="1417320"/>
            <a:ext cx="5257440" cy="4525920"/>
          </a:xfrm>
          <a:prstGeom prst="roundRect">
            <a:avLst>
              <a:gd name="adj" fmla="val 1212"/>
            </a:avLst>
          </a:prstGeom>
          <a:solidFill>
            <a:srgbClr val="ff5a52">
              <a:alpha val="7000"/>
            </a:srgbClr>
          </a:solidFill>
          <a:ln w="12700">
            <a:solidFill>
              <a:srgbClr val="ff5a52">
                <a:alpha val="5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4"/>
          <p:cNvSpPr/>
          <p:nvPr/>
        </p:nvSpPr>
        <p:spPr>
          <a:xfrm>
            <a:off x="914400" y="1737360"/>
            <a:ext cx="1096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64d98b"/>
                </a:solidFill>
                <a:effectLst/>
                <a:uFillTx/>
                <a:latin typeface="DejaVu Sans"/>
              </a:rPr>
              <a:t>PROS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5"/>
          <p:cNvSpPr/>
          <p:nvPr/>
        </p:nvSpPr>
        <p:spPr>
          <a:xfrm>
            <a:off x="6602040" y="1737360"/>
            <a:ext cx="1462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7a72"/>
                </a:solidFill>
                <a:effectLst/>
                <a:uFillTx/>
                <a:latin typeface="DejaVu Sans"/>
              </a:rPr>
              <a:t>CONS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6"/>
          <p:cNvSpPr/>
          <p:nvPr/>
        </p:nvSpPr>
        <p:spPr>
          <a:xfrm>
            <a:off x="914400" y="2331720"/>
            <a:ext cx="4617360" cy="822600"/>
          </a:xfrm>
          <a:prstGeom prst="roundRect">
            <a:avLst>
              <a:gd name="adj" fmla="val 6667"/>
            </a:avLst>
          </a:prstGeom>
          <a:solidFill>
            <a:srgbClr val="151922"/>
          </a:solidFill>
          <a:ln w="12700">
            <a:solidFill>
              <a:srgbClr val="3038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7"/>
          <p:cNvSpPr/>
          <p:nvPr/>
        </p:nvSpPr>
        <p:spPr>
          <a:xfrm>
            <a:off x="914400" y="2331720"/>
            <a:ext cx="63720" cy="822600"/>
          </a:xfrm>
          <a:prstGeom prst="rect">
            <a:avLst/>
          </a:prstGeom>
          <a:solidFill>
            <a:srgbClr val="64d98b"/>
          </a:solidFill>
          <a:ln w="12700">
            <a:solidFill>
              <a:srgbClr val="64d9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8"/>
          <p:cNvSpPr/>
          <p:nvPr/>
        </p:nvSpPr>
        <p:spPr>
          <a:xfrm>
            <a:off x="1170360" y="2460960"/>
            <a:ext cx="411444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4f7fb"/>
                </a:solidFill>
                <a:effectLst/>
                <a:uFillTx/>
                <a:latin typeface="DejaVu Sans"/>
              </a:rPr>
              <a:t>Ready channels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9"/>
          <p:cNvSpPr/>
          <p:nvPr/>
        </p:nvSpPr>
        <p:spPr>
          <a:xfrm>
            <a:off x="1170360" y="2755800"/>
            <a:ext cx="41418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2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4800" strike="noStrike" u="none">
                <a:solidFill>
                  <a:srgbClr val="a9b1c1"/>
                </a:solidFill>
                <a:effectLst/>
                <a:uFillTx/>
                <a:latin typeface="DejaVu Sans"/>
              </a:rPr>
              <a:t>Conversation becomes the system interface.</a:t>
            </a:r>
            <a:endParaRPr b="0" lang="en-US" sz="48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173" name="Shape 10"/>
          <p:cNvSpPr/>
          <p:nvPr/>
        </p:nvSpPr>
        <p:spPr>
          <a:xfrm>
            <a:off x="914400" y="3355920"/>
            <a:ext cx="4617360" cy="822600"/>
          </a:xfrm>
          <a:prstGeom prst="roundRect">
            <a:avLst>
              <a:gd name="adj" fmla="val 6667"/>
            </a:avLst>
          </a:prstGeom>
          <a:solidFill>
            <a:srgbClr val="151922"/>
          </a:solidFill>
          <a:ln w="12700">
            <a:solidFill>
              <a:srgbClr val="3038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11"/>
          <p:cNvSpPr/>
          <p:nvPr/>
        </p:nvSpPr>
        <p:spPr>
          <a:xfrm>
            <a:off x="914400" y="3355920"/>
            <a:ext cx="63720" cy="822600"/>
          </a:xfrm>
          <a:prstGeom prst="rect">
            <a:avLst/>
          </a:prstGeom>
          <a:solidFill>
            <a:srgbClr val="64d98b"/>
          </a:solidFill>
          <a:ln w="12700">
            <a:solidFill>
              <a:srgbClr val="64d9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12"/>
          <p:cNvSpPr/>
          <p:nvPr/>
        </p:nvSpPr>
        <p:spPr>
          <a:xfrm>
            <a:off x="1170360" y="3485160"/>
            <a:ext cx="411444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4f7fb"/>
                </a:solidFill>
                <a:effectLst/>
                <a:uFillTx/>
                <a:latin typeface="DejaVu Sans"/>
              </a:rPr>
              <a:t>Local control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13"/>
          <p:cNvSpPr/>
          <p:nvPr/>
        </p:nvSpPr>
        <p:spPr>
          <a:xfrm>
            <a:off x="1170360" y="3780000"/>
            <a:ext cx="41418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2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4800" strike="noStrike" u="none">
                <a:solidFill>
                  <a:srgbClr val="a9b1c1"/>
                </a:solidFill>
                <a:effectLst/>
                <a:uFillTx/>
                <a:latin typeface="DejaVu Sans"/>
              </a:rPr>
              <a:t>Infrastructure, data, and integrations stay under your control.</a:t>
            </a:r>
            <a:endParaRPr b="0" lang="en-US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14"/>
          <p:cNvSpPr/>
          <p:nvPr/>
        </p:nvSpPr>
        <p:spPr>
          <a:xfrm>
            <a:off x="914400" y="4380120"/>
            <a:ext cx="4617360" cy="822600"/>
          </a:xfrm>
          <a:prstGeom prst="roundRect">
            <a:avLst>
              <a:gd name="adj" fmla="val 6667"/>
            </a:avLst>
          </a:prstGeom>
          <a:solidFill>
            <a:srgbClr val="151922"/>
          </a:solidFill>
          <a:ln w="12700">
            <a:solidFill>
              <a:srgbClr val="3038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15"/>
          <p:cNvSpPr/>
          <p:nvPr/>
        </p:nvSpPr>
        <p:spPr>
          <a:xfrm>
            <a:off x="914400" y="4380120"/>
            <a:ext cx="63720" cy="822600"/>
          </a:xfrm>
          <a:prstGeom prst="rect">
            <a:avLst/>
          </a:prstGeom>
          <a:solidFill>
            <a:srgbClr val="64d98b"/>
          </a:solidFill>
          <a:ln w="12700">
            <a:solidFill>
              <a:srgbClr val="64d9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16"/>
          <p:cNvSpPr/>
          <p:nvPr/>
        </p:nvSpPr>
        <p:spPr>
          <a:xfrm>
            <a:off x="1170360" y="4509000"/>
            <a:ext cx="411444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4f7fb"/>
                </a:solidFill>
                <a:effectLst/>
                <a:uFillTx/>
                <a:latin typeface="DejaVu Sans"/>
              </a:rPr>
              <a:t>Layered safeguards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17"/>
          <p:cNvSpPr/>
          <p:nvPr/>
        </p:nvSpPr>
        <p:spPr>
          <a:xfrm>
            <a:off x="1170360" y="4804200"/>
            <a:ext cx="41418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2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4800" strike="noStrike" u="none">
                <a:solidFill>
                  <a:srgbClr val="a9b1c1"/>
                </a:solidFill>
                <a:effectLst/>
                <a:uFillTx/>
                <a:latin typeface="DejaVu Sans"/>
              </a:rPr>
              <a:t>Policies, approvals, allowlists, and sandboxes per agent.</a:t>
            </a:r>
            <a:endParaRPr b="0" lang="en-US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18"/>
          <p:cNvSpPr/>
          <p:nvPr/>
        </p:nvSpPr>
        <p:spPr>
          <a:xfrm>
            <a:off x="6602040" y="2331720"/>
            <a:ext cx="4617360" cy="822600"/>
          </a:xfrm>
          <a:prstGeom prst="roundRect">
            <a:avLst>
              <a:gd name="adj" fmla="val 6667"/>
            </a:avLst>
          </a:prstGeom>
          <a:solidFill>
            <a:srgbClr val="151922"/>
          </a:solidFill>
          <a:ln w="12700">
            <a:solidFill>
              <a:srgbClr val="3038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19"/>
          <p:cNvSpPr/>
          <p:nvPr/>
        </p:nvSpPr>
        <p:spPr>
          <a:xfrm>
            <a:off x="6602040" y="2331720"/>
            <a:ext cx="63720" cy="822600"/>
          </a:xfrm>
          <a:prstGeom prst="rect">
            <a:avLst/>
          </a:prstGeom>
          <a:solidFill>
            <a:srgbClr val="ff5a52"/>
          </a:solidFill>
          <a:ln w="12700">
            <a:solidFill>
              <a:srgbClr val="ff5a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20"/>
          <p:cNvSpPr/>
          <p:nvPr/>
        </p:nvSpPr>
        <p:spPr>
          <a:xfrm>
            <a:off x="6858000" y="2532960"/>
            <a:ext cx="411444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4f7fb"/>
                </a:solidFill>
                <a:effectLst/>
                <a:uFillTx/>
                <a:latin typeface="DejaVu Sans"/>
              </a:rPr>
              <a:t>No host isolation by default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21"/>
          <p:cNvSpPr/>
          <p:nvPr/>
        </p:nvSpPr>
        <p:spPr>
          <a:xfrm>
            <a:off x="6858000" y="2827800"/>
            <a:ext cx="41418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2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4800" strike="noStrike" u="none">
                <a:solidFill>
                  <a:srgbClr val="a9b1c1"/>
                </a:solidFill>
                <a:effectLst/>
                <a:uFillTx/>
                <a:latin typeface="DejaVu Sans"/>
              </a:rPr>
              <a:t>Sandbox must be explicitly enabled</a:t>
            </a:r>
            <a:endParaRPr b="0" lang="en-US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22"/>
          <p:cNvSpPr/>
          <p:nvPr/>
        </p:nvSpPr>
        <p:spPr>
          <a:xfrm>
            <a:off x="6602040" y="3355920"/>
            <a:ext cx="4617360" cy="822600"/>
          </a:xfrm>
          <a:prstGeom prst="roundRect">
            <a:avLst>
              <a:gd name="adj" fmla="val 6667"/>
            </a:avLst>
          </a:prstGeom>
          <a:solidFill>
            <a:srgbClr val="151922"/>
          </a:solidFill>
          <a:ln w="12700">
            <a:solidFill>
              <a:srgbClr val="3038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23"/>
          <p:cNvSpPr/>
          <p:nvPr/>
        </p:nvSpPr>
        <p:spPr>
          <a:xfrm>
            <a:off x="6602040" y="3355920"/>
            <a:ext cx="63720" cy="822600"/>
          </a:xfrm>
          <a:prstGeom prst="rect">
            <a:avLst/>
          </a:prstGeom>
          <a:solidFill>
            <a:srgbClr val="ff5a52"/>
          </a:solidFill>
          <a:ln w="12700">
            <a:solidFill>
              <a:srgbClr val="ff5a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24"/>
          <p:cNvSpPr/>
          <p:nvPr/>
        </p:nvSpPr>
        <p:spPr>
          <a:xfrm>
            <a:off x="6858000" y="3485160"/>
            <a:ext cx="411444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4f7fb"/>
                </a:solidFill>
                <a:effectLst/>
                <a:uFillTx/>
                <a:latin typeface="DejaVu Sans"/>
              </a:rPr>
              <a:t>Real blast radius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25"/>
          <p:cNvSpPr/>
          <p:nvPr/>
        </p:nvSpPr>
        <p:spPr>
          <a:xfrm>
            <a:off x="6858000" y="3780000"/>
            <a:ext cx="41418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2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4800" strike="noStrike" u="none">
                <a:solidFill>
                  <a:srgbClr val="a9b1c1"/>
                </a:solidFill>
                <a:effectLst/>
                <a:uFillTx/>
                <a:latin typeface="DejaVu Sans"/>
              </a:rPr>
              <a:t>Excessive privileges can turn an error into an incident.</a:t>
            </a:r>
            <a:endParaRPr b="0" lang="en-US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26"/>
          <p:cNvSpPr/>
          <p:nvPr/>
        </p:nvSpPr>
        <p:spPr>
          <a:xfrm>
            <a:off x="6602040" y="4380120"/>
            <a:ext cx="4617360" cy="822600"/>
          </a:xfrm>
          <a:prstGeom prst="roundRect">
            <a:avLst>
              <a:gd name="adj" fmla="val 6667"/>
            </a:avLst>
          </a:prstGeom>
          <a:solidFill>
            <a:srgbClr val="151922"/>
          </a:solidFill>
          <a:ln w="12700">
            <a:solidFill>
              <a:srgbClr val="3038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27"/>
          <p:cNvSpPr/>
          <p:nvPr/>
        </p:nvSpPr>
        <p:spPr>
          <a:xfrm>
            <a:off x="6602040" y="4380120"/>
            <a:ext cx="63720" cy="822600"/>
          </a:xfrm>
          <a:prstGeom prst="rect">
            <a:avLst/>
          </a:prstGeom>
          <a:solidFill>
            <a:srgbClr val="ff5a52"/>
          </a:solidFill>
          <a:ln w="12700">
            <a:solidFill>
              <a:srgbClr val="ff5a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28"/>
          <p:cNvSpPr/>
          <p:nvPr/>
        </p:nvSpPr>
        <p:spPr>
          <a:xfrm>
            <a:off x="6858000" y="4473000"/>
            <a:ext cx="411444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4f7fb"/>
                </a:solidFill>
                <a:effectLst/>
                <a:uFillTx/>
                <a:latin typeface="DejaVu Sans"/>
              </a:rPr>
              <a:t>Limited multi-tenancy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29"/>
          <p:cNvSpPr/>
          <p:nvPr/>
        </p:nvSpPr>
        <p:spPr>
          <a:xfrm>
            <a:off x="6858000" y="4804200"/>
            <a:ext cx="41418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2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4800" strike="noStrike" u="none">
                <a:solidFill>
                  <a:srgbClr val="a9b1c1"/>
                </a:solidFill>
                <a:effectLst/>
                <a:uFillTx/>
                <a:latin typeface="DejaVu Sans"/>
              </a:rPr>
              <a:t>A shared Gateway is not a hostile-isolation boundary.</a:t>
            </a:r>
            <a:endParaRPr b="0" lang="en-US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PlaceHolder 1"/>
          <p:cNvSpPr>
            <a:spLocks noGrp="1"/>
          </p:cNvSpPr>
          <p:nvPr>
            <p:ph type="sldNum" idx="10"/>
          </p:nvPr>
        </p:nvSpPr>
        <p:spPr>
          <a:xfrm>
            <a:off x="11384280" y="6473880"/>
            <a:ext cx="365400" cy="18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700" strike="noStrike" u="none">
                <a:solidFill>
                  <a:srgbClr val="7d8597"/>
                </a:solidFill>
                <a:effectLst/>
                <a:uFillTx/>
                <a:latin typeface="DejaVu San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FC555D8-D020-4338-B6C6-34CEB5F541C2}" type="slidenum">
              <a:rPr b="0" lang="en-US" sz="700" strike="noStrike" u="none">
                <a:solidFill>
                  <a:srgbClr val="7d8597"/>
                </a:solidFill>
                <a:effectLst/>
                <a:uFillTx/>
                <a:latin typeface="DejaVu Sans"/>
                <a:ea typeface="DejaVu Sans"/>
              </a:rPr>
              <a:t>6</a:t>
            </a:fld>
            <a:endParaRPr b="0" lang="en-US" sz="7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Text 0"/>
          <p:cNvSpPr/>
          <p:nvPr/>
        </p:nvSpPr>
        <p:spPr>
          <a:xfrm>
            <a:off x="502920" y="311040"/>
            <a:ext cx="4388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181" strike="noStrike" u="none">
                <a:solidFill>
                  <a:srgbClr val="ff5a52"/>
                </a:solidFill>
                <a:effectLst/>
                <a:uFillTx/>
                <a:latin typeface="DejaVu Sans"/>
              </a:rPr>
              <a:t>06 · ALTERNATIVES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1"/>
          <p:cNvSpPr/>
          <p:nvPr/>
        </p:nvSpPr>
        <p:spPr>
          <a:xfrm>
            <a:off x="502920" y="640080"/>
            <a:ext cx="109724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f4f7fb"/>
                </a:solidFill>
                <a:effectLst/>
                <a:uFillTx/>
                <a:latin typeface="DejaVu Sans"/>
              </a:rPr>
              <a:t>Comparison</a:t>
            </a:r>
            <a:endParaRPr b="0" lang="en-US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2"/>
          <p:cNvSpPr/>
          <p:nvPr/>
        </p:nvSpPr>
        <p:spPr>
          <a:xfrm>
            <a:off x="530280" y="1389960"/>
            <a:ext cx="3702960" cy="4525920"/>
          </a:xfrm>
          <a:prstGeom prst="roundRect">
            <a:avLst>
              <a:gd name="adj" fmla="val 1481"/>
            </a:avLst>
          </a:prstGeom>
          <a:solidFill>
            <a:srgbClr val="151922"/>
          </a:solidFill>
          <a:ln w="16510">
            <a:solidFill>
              <a:srgbClr val="ff5a52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3"/>
          <p:cNvSpPr/>
          <p:nvPr/>
        </p:nvSpPr>
        <p:spPr>
          <a:xfrm>
            <a:off x="530280" y="1389960"/>
            <a:ext cx="3702960" cy="109440"/>
          </a:xfrm>
          <a:prstGeom prst="rect">
            <a:avLst/>
          </a:prstGeom>
          <a:solidFill>
            <a:srgbClr val="ff5a52"/>
          </a:solidFill>
          <a:ln w="12700">
            <a:solidFill>
              <a:srgbClr val="ff5a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4"/>
          <p:cNvSpPr/>
          <p:nvPr/>
        </p:nvSpPr>
        <p:spPr>
          <a:xfrm>
            <a:off x="758880" y="1691640"/>
            <a:ext cx="3245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f4f7fb"/>
                </a:solidFill>
                <a:effectLst/>
                <a:uFillTx/>
                <a:latin typeface="DejaVu Sans"/>
              </a:rPr>
              <a:t>OpenClaw</a:t>
            </a:r>
            <a:endParaRPr b="0" lang="en-US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5"/>
          <p:cNvSpPr/>
          <p:nvPr/>
        </p:nvSpPr>
        <p:spPr>
          <a:xfrm>
            <a:off x="758880" y="2121480"/>
            <a:ext cx="32457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ff5a52"/>
                </a:solidFill>
                <a:effectLst/>
                <a:uFillTx/>
                <a:latin typeface="DejaVu Sans"/>
              </a:rPr>
              <a:t>self-hosted product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6"/>
          <p:cNvSpPr/>
          <p:nvPr/>
        </p:nvSpPr>
        <p:spPr>
          <a:xfrm>
            <a:off x="786240" y="2651760"/>
            <a:ext cx="7768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70" strike="noStrike" u="none">
                <a:solidFill>
                  <a:srgbClr val="ff5a52"/>
                </a:solidFill>
                <a:effectLst/>
                <a:uFillTx/>
                <a:latin typeface="DejaVu Sans"/>
              </a:rPr>
              <a:t>FOCUS</a:t>
            </a:r>
            <a:endParaRPr b="0" lang="en-US" sz="6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7"/>
          <p:cNvSpPr/>
          <p:nvPr/>
        </p:nvSpPr>
        <p:spPr>
          <a:xfrm>
            <a:off x="1627560" y="2642760"/>
            <a:ext cx="2349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a9b1c1"/>
                </a:solidFill>
                <a:effectLst/>
                <a:uFillTx/>
                <a:latin typeface="DejaVu Sans"/>
              </a:rPr>
              <a:t>assistant in channels + actions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8"/>
          <p:cNvSpPr/>
          <p:nvPr/>
        </p:nvSpPr>
        <p:spPr>
          <a:xfrm>
            <a:off x="786240" y="3090600"/>
            <a:ext cx="3191400" cy="360"/>
          </a:xfrm>
          <a:prstGeom prst="line">
            <a:avLst/>
          </a:prstGeom>
          <a:ln w="8890">
            <a:solidFill>
              <a:srgbClr val="3038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9"/>
          <p:cNvSpPr/>
          <p:nvPr/>
        </p:nvSpPr>
        <p:spPr>
          <a:xfrm>
            <a:off x="786240" y="3364920"/>
            <a:ext cx="7768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70" strike="noStrike" u="none">
                <a:solidFill>
                  <a:srgbClr val="ff5a52"/>
                </a:solidFill>
                <a:effectLst/>
                <a:uFillTx/>
                <a:latin typeface="DejaVu Sans"/>
              </a:rPr>
              <a:t>DELIVERY</a:t>
            </a:r>
            <a:endParaRPr b="0" lang="en-US" sz="6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10"/>
          <p:cNvSpPr/>
          <p:nvPr/>
        </p:nvSpPr>
        <p:spPr>
          <a:xfrm>
            <a:off x="1627560" y="3355920"/>
            <a:ext cx="2349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a9b1c1"/>
                </a:solidFill>
                <a:effectLst/>
                <a:uFillTx/>
                <a:latin typeface="DejaVu Sans"/>
              </a:rPr>
              <a:t>gateway in your infrastructure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11"/>
          <p:cNvSpPr/>
          <p:nvPr/>
        </p:nvSpPr>
        <p:spPr>
          <a:xfrm>
            <a:off x="786240" y="3803760"/>
            <a:ext cx="3191400" cy="360"/>
          </a:xfrm>
          <a:prstGeom prst="line">
            <a:avLst/>
          </a:prstGeom>
          <a:ln w="8890">
            <a:solidFill>
              <a:srgbClr val="3038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12"/>
          <p:cNvSpPr/>
          <p:nvPr/>
        </p:nvSpPr>
        <p:spPr>
          <a:xfrm>
            <a:off x="786240" y="4078080"/>
            <a:ext cx="7768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70" strike="noStrike" u="none">
                <a:solidFill>
                  <a:srgbClr val="ff5a52"/>
                </a:solidFill>
                <a:effectLst/>
                <a:uFillTx/>
                <a:latin typeface="DejaVu Sans"/>
              </a:rPr>
              <a:t>BENEFIT</a:t>
            </a:r>
            <a:endParaRPr b="0" lang="en-US" sz="6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13"/>
          <p:cNvSpPr/>
          <p:nvPr/>
        </p:nvSpPr>
        <p:spPr>
          <a:xfrm>
            <a:off x="1627560" y="4069080"/>
            <a:ext cx="2349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a9b1c1"/>
                </a:solidFill>
                <a:effectLst/>
                <a:uFillTx/>
                <a:latin typeface="DejaVu Sans"/>
              </a:rPr>
              <a:t>control and personal integration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14"/>
          <p:cNvSpPr/>
          <p:nvPr/>
        </p:nvSpPr>
        <p:spPr>
          <a:xfrm>
            <a:off x="786240" y="4516920"/>
            <a:ext cx="3191400" cy="360"/>
          </a:xfrm>
          <a:prstGeom prst="line">
            <a:avLst/>
          </a:prstGeom>
          <a:ln w="8890">
            <a:solidFill>
              <a:srgbClr val="3038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15"/>
          <p:cNvSpPr/>
          <p:nvPr/>
        </p:nvSpPr>
        <p:spPr>
          <a:xfrm>
            <a:off x="786240" y="4791600"/>
            <a:ext cx="7768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70" strike="noStrike" u="none">
                <a:solidFill>
                  <a:srgbClr val="ff5a52"/>
                </a:solidFill>
                <a:effectLst/>
                <a:uFillTx/>
                <a:latin typeface="DejaVu Sans"/>
              </a:rPr>
              <a:t>RISK</a:t>
            </a:r>
            <a:endParaRPr b="0" lang="en-US" sz="6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16"/>
          <p:cNvSpPr/>
          <p:nvPr/>
        </p:nvSpPr>
        <p:spPr>
          <a:xfrm>
            <a:off x="1627560" y="4782240"/>
            <a:ext cx="2349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a9b1c1"/>
                </a:solidFill>
                <a:effectLst/>
                <a:uFillTx/>
                <a:latin typeface="DejaVu Sans"/>
              </a:rPr>
              <a:t>operations and hardening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17"/>
          <p:cNvSpPr/>
          <p:nvPr/>
        </p:nvSpPr>
        <p:spPr>
          <a:xfrm>
            <a:off x="4251960" y="1389960"/>
            <a:ext cx="3702960" cy="4525920"/>
          </a:xfrm>
          <a:prstGeom prst="roundRect">
            <a:avLst>
              <a:gd name="adj" fmla="val 1481"/>
            </a:avLst>
          </a:prstGeom>
          <a:solidFill>
            <a:srgbClr val="151922"/>
          </a:solidFill>
          <a:ln w="16510">
            <a:solidFill>
              <a:srgbClr val="f6c85f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18"/>
          <p:cNvSpPr/>
          <p:nvPr/>
        </p:nvSpPr>
        <p:spPr>
          <a:xfrm>
            <a:off x="4251960" y="1389960"/>
            <a:ext cx="3702960" cy="109440"/>
          </a:xfrm>
          <a:prstGeom prst="rect">
            <a:avLst/>
          </a:prstGeom>
          <a:solidFill>
            <a:srgbClr val="f6c85f"/>
          </a:solidFill>
          <a:ln w="12700">
            <a:solidFill>
              <a:srgbClr val="f6c8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19"/>
          <p:cNvSpPr/>
          <p:nvPr/>
        </p:nvSpPr>
        <p:spPr>
          <a:xfrm>
            <a:off x="4480560" y="1691640"/>
            <a:ext cx="3245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f4f7fb"/>
                </a:solidFill>
                <a:effectLst/>
                <a:uFillTx/>
                <a:latin typeface="DejaVu Sans"/>
              </a:rPr>
              <a:t>Bedrock AgentCore</a:t>
            </a:r>
            <a:endParaRPr b="0" lang="en-US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20"/>
          <p:cNvSpPr/>
          <p:nvPr/>
        </p:nvSpPr>
        <p:spPr>
          <a:xfrm>
            <a:off x="4480560" y="2121480"/>
            <a:ext cx="32457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f6c85f"/>
                </a:solidFill>
                <a:effectLst/>
                <a:uFillTx/>
                <a:latin typeface="DejaVu Sans"/>
              </a:rPr>
              <a:t>managed AWS platform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21"/>
          <p:cNvSpPr/>
          <p:nvPr/>
        </p:nvSpPr>
        <p:spPr>
          <a:xfrm>
            <a:off x="4507920" y="2651760"/>
            <a:ext cx="7768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70" strike="noStrike" u="none">
                <a:solidFill>
                  <a:srgbClr val="f6c85f"/>
                </a:solidFill>
                <a:effectLst/>
                <a:uFillTx/>
                <a:latin typeface="DejaVu Sans"/>
              </a:rPr>
              <a:t>FOCUS</a:t>
            </a:r>
            <a:endParaRPr b="0" lang="en-US" sz="6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22"/>
          <p:cNvSpPr/>
          <p:nvPr/>
        </p:nvSpPr>
        <p:spPr>
          <a:xfrm>
            <a:off x="5349240" y="2642760"/>
            <a:ext cx="2349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a9b1c1"/>
                </a:solidFill>
                <a:effectLst/>
                <a:uFillTx/>
                <a:latin typeface="DejaVu Sans"/>
              </a:rPr>
              <a:t>governed agents at scale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23"/>
          <p:cNvSpPr/>
          <p:nvPr/>
        </p:nvSpPr>
        <p:spPr>
          <a:xfrm>
            <a:off x="4507920" y="3090600"/>
            <a:ext cx="3191040" cy="360"/>
          </a:xfrm>
          <a:prstGeom prst="line">
            <a:avLst/>
          </a:prstGeom>
          <a:ln w="8890">
            <a:solidFill>
              <a:srgbClr val="3038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24"/>
          <p:cNvSpPr/>
          <p:nvPr/>
        </p:nvSpPr>
        <p:spPr>
          <a:xfrm>
            <a:off x="4507920" y="3364920"/>
            <a:ext cx="7768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70" strike="noStrike" u="none">
                <a:solidFill>
                  <a:srgbClr val="f6c85f"/>
                </a:solidFill>
                <a:effectLst/>
                <a:uFillTx/>
                <a:latin typeface="DejaVu Sans"/>
              </a:rPr>
              <a:t>DELIVERY</a:t>
            </a:r>
            <a:endParaRPr b="0" lang="en-US" sz="6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25"/>
          <p:cNvSpPr/>
          <p:nvPr/>
        </p:nvSpPr>
        <p:spPr>
          <a:xfrm>
            <a:off x="5349240" y="3355920"/>
            <a:ext cx="2349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a9b1c1"/>
                </a:solidFill>
                <a:effectLst/>
                <a:uFillTx/>
                <a:latin typeface="DejaVu Sans"/>
              </a:rPr>
              <a:t>managed serverless runtime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Shape 26"/>
          <p:cNvSpPr/>
          <p:nvPr/>
        </p:nvSpPr>
        <p:spPr>
          <a:xfrm>
            <a:off x="4507920" y="3803760"/>
            <a:ext cx="3191040" cy="360"/>
          </a:xfrm>
          <a:prstGeom prst="line">
            <a:avLst/>
          </a:prstGeom>
          <a:ln w="8890">
            <a:solidFill>
              <a:srgbClr val="3038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27"/>
          <p:cNvSpPr/>
          <p:nvPr/>
        </p:nvSpPr>
        <p:spPr>
          <a:xfrm>
            <a:off x="4507920" y="4078080"/>
            <a:ext cx="7768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70" strike="noStrike" u="none">
                <a:solidFill>
                  <a:srgbClr val="f6c85f"/>
                </a:solidFill>
                <a:effectLst/>
                <a:uFillTx/>
                <a:latin typeface="DejaVu Sans"/>
              </a:rPr>
              <a:t>BENEFIT</a:t>
            </a:r>
            <a:endParaRPr b="0" lang="en-US" sz="6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28"/>
          <p:cNvSpPr/>
          <p:nvPr/>
        </p:nvSpPr>
        <p:spPr>
          <a:xfrm>
            <a:off x="5349240" y="4069080"/>
            <a:ext cx="2349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a9b1c1"/>
                </a:solidFill>
                <a:effectLst/>
                <a:uFillTx/>
                <a:latin typeface="DejaVu Sans"/>
              </a:rPr>
              <a:t>identity, policy, observability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29"/>
          <p:cNvSpPr/>
          <p:nvPr/>
        </p:nvSpPr>
        <p:spPr>
          <a:xfrm>
            <a:off x="4507920" y="4516920"/>
            <a:ext cx="3191040" cy="360"/>
          </a:xfrm>
          <a:prstGeom prst="line">
            <a:avLst/>
          </a:prstGeom>
          <a:ln w="8890">
            <a:solidFill>
              <a:srgbClr val="3038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30"/>
          <p:cNvSpPr/>
          <p:nvPr/>
        </p:nvSpPr>
        <p:spPr>
          <a:xfrm>
            <a:off x="4507920" y="4791600"/>
            <a:ext cx="7768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70" strike="noStrike" u="none">
                <a:solidFill>
                  <a:srgbClr val="f6c85f"/>
                </a:solidFill>
                <a:effectLst/>
                <a:uFillTx/>
                <a:latin typeface="DejaVu Sans"/>
              </a:rPr>
              <a:t>RISK</a:t>
            </a:r>
            <a:endParaRPr b="0" lang="en-US" sz="6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31"/>
          <p:cNvSpPr/>
          <p:nvPr/>
        </p:nvSpPr>
        <p:spPr>
          <a:xfrm>
            <a:off x="5349240" y="4782240"/>
            <a:ext cx="2349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a9b1c1"/>
                </a:solidFill>
                <a:effectLst/>
                <a:uFillTx/>
                <a:latin typeface="DejaVu Sans"/>
              </a:rPr>
              <a:t>cost and AWS operating model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32"/>
          <p:cNvSpPr/>
          <p:nvPr/>
        </p:nvSpPr>
        <p:spPr>
          <a:xfrm>
            <a:off x="7973640" y="1389960"/>
            <a:ext cx="3702960" cy="4525920"/>
          </a:xfrm>
          <a:prstGeom prst="roundRect">
            <a:avLst>
              <a:gd name="adj" fmla="val 1481"/>
            </a:avLst>
          </a:prstGeom>
          <a:solidFill>
            <a:srgbClr val="151922"/>
          </a:solidFill>
          <a:ln w="16510">
            <a:solidFill>
              <a:srgbClr val="4bd6c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33"/>
          <p:cNvSpPr/>
          <p:nvPr/>
        </p:nvSpPr>
        <p:spPr>
          <a:xfrm>
            <a:off x="7973640" y="1389960"/>
            <a:ext cx="3702960" cy="109440"/>
          </a:xfrm>
          <a:prstGeom prst="rect">
            <a:avLst/>
          </a:prstGeom>
          <a:solidFill>
            <a:srgbClr val="4bd6c8"/>
          </a:solidFill>
          <a:ln w="12700">
            <a:solidFill>
              <a:srgbClr val="4bd6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34"/>
          <p:cNvSpPr/>
          <p:nvPr/>
        </p:nvSpPr>
        <p:spPr>
          <a:xfrm>
            <a:off x="8202240" y="1691640"/>
            <a:ext cx="3245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f4f7fb"/>
                </a:solidFill>
                <a:effectLst/>
                <a:uFillTx/>
                <a:latin typeface="DejaVu Sans"/>
              </a:rPr>
              <a:t>LangGraph</a:t>
            </a:r>
            <a:endParaRPr b="0" lang="en-US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35"/>
          <p:cNvSpPr/>
          <p:nvPr/>
        </p:nvSpPr>
        <p:spPr>
          <a:xfrm>
            <a:off x="8202240" y="2121480"/>
            <a:ext cx="32457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4bd6c8"/>
                </a:solidFill>
                <a:effectLst/>
                <a:uFillTx/>
                <a:latin typeface="DejaVu Sans"/>
              </a:rPr>
              <a:t>orchestration framework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36"/>
          <p:cNvSpPr/>
          <p:nvPr/>
        </p:nvSpPr>
        <p:spPr>
          <a:xfrm>
            <a:off x="8229600" y="2651760"/>
            <a:ext cx="7768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70" strike="noStrike" u="none">
                <a:solidFill>
                  <a:srgbClr val="4bd6c8"/>
                </a:solidFill>
                <a:effectLst/>
                <a:uFillTx/>
                <a:latin typeface="DejaVu Sans"/>
              </a:rPr>
              <a:t>FOCUS</a:t>
            </a:r>
            <a:endParaRPr b="0" lang="en-US" sz="6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37"/>
          <p:cNvSpPr/>
          <p:nvPr/>
        </p:nvSpPr>
        <p:spPr>
          <a:xfrm>
            <a:off x="9070920" y="2642760"/>
            <a:ext cx="2349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a9b1c1"/>
                </a:solidFill>
                <a:effectLst/>
                <a:uFillTx/>
                <a:latin typeface="DejaVu Sans"/>
              </a:rPr>
              <a:t>custom workflow/state machine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38"/>
          <p:cNvSpPr/>
          <p:nvPr/>
        </p:nvSpPr>
        <p:spPr>
          <a:xfrm>
            <a:off x="8229600" y="3090600"/>
            <a:ext cx="3191040" cy="360"/>
          </a:xfrm>
          <a:prstGeom prst="line">
            <a:avLst/>
          </a:prstGeom>
          <a:ln w="8890">
            <a:solidFill>
              <a:srgbClr val="3038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39"/>
          <p:cNvSpPr/>
          <p:nvPr/>
        </p:nvSpPr>
        <p:spPr>
          <a:xfrm>
            <a:off x="8229600" y="3364920"/>
            <a:ext cx="7768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70" strike="noStrike" u="none">
                <a:solidFill>
                  <a:srgbClr val="4bd6c8"/>
                </a:solidFill>
                <a:effectLst/>
                <a:uFillTx/>
                <a:latin typeface="DejaVu Sans"/>
              </a:rPr>
              <a:t>DELIVERY</a:t>
            </a:r>
            <a:endParaRPr b="0" lang="en-US" sz="6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40"/>
          <p:cNvSpPr/>
          <p:nvPr/>
        </p:nvSpPr>
        <p:spPr>
          <a:xfrm>
            <a:off x="9070920" y="3355920"/>
            <a:ext cx="2349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a9b1c1"/>
                </a:solidFill>
                <a:effectLst/>
                <a:uFillTx/>
                <a:latin typeface="DejaVu Sans"/>
              </a:rPr>
              <a:t>library + chosen runtime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Shape 41"/>
          <p:cNvSpPr/>
          <p:nvPr/>
        </p:nvSpPr>
        <p:spPr>
          <a:xfrm>
            <a:off x="8229600" y="3803760"/>
            <a:ext cx="3191040" cy="360"/>
          </a:xfrm>
          <a:prstGeom prst="line">
            <a:avLst/>
          </a:prstGeom>
          <a:ln w="8890">
            <a:solidFill>
              <a:srgbClr val="3038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42"/>
          <p:cNvSpPr/>
          <p:nvPr/>
        </p:nvSpPr>
        <p:spPr>
          <a:xfrm>
            <a:off x="8229600" y="4078080"/>
            <a:ext cx="7768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70" strike="noStrike" u="none">
                <a:solidFill>
                  <a:srgbClr val="4bd6c8"/>
                </a:solidFill>
                <a:effectLst/>
                <a:uFillTx/>
                <a:latin typeface="DejaVu Sans"/>
              </a:rPr>
              <a:t>BENEFIT</a:t>
            </a:r>
            <a:endParaRPr b="0" lang="en-US" sz="6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43"/>
          <p:cNvSpPr/>
          <p:nvPr/>
        </p:nvSpPr>
        <p:spPr>
          <a:xfrm>
            <a:off x="9070920" y="4069080"/>
            <a:ext cx="2349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a9b1c1"/>
                </a:solidFill>
                <a:effectLst/>
                <a:uFillTx/>
                <a:latin typeface="DejaVu Sans"/>
              </a:rPr>
              <a:t>explicit workflow control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44"/>
          <p:cNvSpPr/>
          <p:nvPr/>
        </p:nvSpPr>
        <p:spPr>
          <a:xfrm>
            <a:off x="8229600" y="4516920"/>
            <a:ext cx="3191040" cy="360"/>
          </a:xfrm>
          <a:prstGeom prst="line">
            <a:avLst/>
          </a:prstGeom>
          <a:ln w="8890">
            <a:solidFill>
              <a:srgbClr val="3038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45"/>
          <p:cNvSpPr/>
          <p:nvPr/>
        </p:nvSpPr>
        <p:spPr>
          <a:xfrm>
            <a:off x="8229600" y="4791600"/>
            <a:ext cx="7768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70" strike="noStrike" u="none">
                <a:solidFill>
                  <a:srgbClr val="4bd6c8"/>
                </a:solidFill>
                <a:effectLst/>
                <a:uFillTx/>
                <a:latin typeface="DejaVu Sans"/>
              </a:rPr>
              <a:t>RISK</a:t>
            </a:r>
            <a:endParaRPr b="0" lang="en-US" sz="6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46"/>
          <p:cNvSpPr/>
          <p:nvPr/>
        </p:nvSpPr>
        <p:spPr>
          <a:xfrm>
            <a:off x="9070920" y="4782240"/>
            <a:ext cx="2349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a9b1c1"/>
                </a:solidFill>
                <a:effectLst/>
                <a:uFillTx/>
                <a:latin typeface="DejaVu Sans"/>
              </a:rPr>
              <a:t>product, channels, and platform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47"/>
          <p:cNvSpPr/>
          <p:nvPr/>
        </p:nvSpPr>
        <p:spPr>
          <a:xfrm>
            <a:off x="685800" y="6126480"/>
            <a:ext cx="10835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8b93a5"/>
                </a:solidFill>
                <a:effectLst/>
                <a:uFillTx/>
                <a:latin typeface="DejaVu Sans"/>
              </a:rPr>
              <a:t>Note: “Agents for Amazon Bedrock” became Agents Classic and is in maintenance; AgentCore is the current alternative.</a:t>
            </a:r>
            <a:endParaRPr b="0" lang="en-US" sz="7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48"/>
          <p:cNvSpPr/>
          <p:nvPr/>
        </p:nvSpPr>
        <p:spPr>
          <a:xfrm>
            <a:off x="1874520" y="6473880"/>
            <a:ext cx="90064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20" strike="noStrike" u="none">
                <a:solidFill>
                  <a:srgbClr val="70798b"/>
                </a:solidFill>
                <a:effectLst/>
                <a:uFillTx/>
                <a:latin typeface="DejaVu Sans"/>
              </a:rPr>
              <a:t>Sources: AWS AgentCore Overview · LangGraph Overview · OpenClaw Docs</a:t>
            </a:r>
            <a:endParaRPr b="0" lang="en-US" sz="6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PlaceHolder 1"/>
          <p:cNvSpPr>
            <a:spLocks noGrp="1"/>
          </p:cNvSpPr>
          <p:nvPr>
            <p:ph type="sldNum" idx="11"/>
          </p:nvPr>
        </p:nvSpPr>
        <p:spPr>
          <a:xfrm>
            <a:off x="11384280" y="6473880"/>
            <a:ext cx="365400" cy="18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700" strike="noStrike" u="none">
                <a:solidFill>
                  <a:srgbClr val="7d8597"/>
                </a:solidFill>
                <a:effectLst/>
                <a:uFillTx/>
                <a:latin typeface="DejaVu San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8EE867F-3AB5-4936-9642-58D498438BCC}" type="slidenum">
              <a:rPr b="0" lang="en-US" sz="700" strike="noStrike" u="none">
                <a:solidFill>
                  <a:srgbClr val="7d8597"/>
                </a:solidFill>
                <a:effectLst/>
                <a:uFillTx/>
                <a:latin typeface="DejaVu Sans"/>
                <a:ea typeface="DejaVu Sans"/>
              </a:rPr>
              <a:t>7</a:t>
            </a:fld>
            <a:endParaRPr b="0" lang="en-US" sz="7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jaVu Sans" pitchFamily="0" charset="1"/>
        <a:ea typeface=""/>
        <a:cs typeface=""/>
      </a:majorFont>
      <a:minorFont>
        <a:latin typeface="DejaVu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</TotalTime>
  <Application>LibreOffice/25.2.3.2$Linux_X86_64 LibreOffice_project/520$Build-2</Application>
  <AppVersion>15.0000</AppVersion>
  <Company>Jeferson Lemos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2026-08-23T21:15:01Z</dcterms:created>
  <dc:creator>Jeferson Lemos</dc:creator>
  <dc:description/>
  <dc:language>en-US</dc:language>
  <cp:lastModifiedBy/>
  <dcterms:modified xsi:type="dcterms:W3CDTF">2026-08-27T14:48:42Z</dcterms:modified>
  <cp:revision>5</cp:revision>
  <dc:subject>OpenClaw — visão geral técnica, arquitetura e comparação</dc:subject>
  <dc:title>OpenClaw — da conversa à ação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8</vt:i4>
  </property>
  <property fmtid="{D5CDD505-2E9C-101B-9397-08002B2CF9AE}" pid="3" name="PresentationFormat">
    <vt:lpwstr>On-screen Show (16:9)</vt:lpwstr>
  </property>
  <property fmtid="{D5CDD505-2E9C-101B-9397-08002B2CF9AE}" pid="4" name="Slides">
    <vt:i4>8</vt:i4>
  </property>
</Properties>
</file>