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0:00–0:15
OpenClaw is not a new model. It is the layer that turns a conversation into a real action within the operator’s infrastructure and rules.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1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0:15–0:50
The interface is the conversation, but the product is a control plane: it keeps channels connected, selects the agent and session, assembles context, and controls tools.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2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0:50–1:35
Use a concrete example: “Summarize the status of a task.” Show that the model does not choose the channel or identity; it receives a prepared turn and can use only the tools it is allowed to access.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3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1:35–2:25
Explain it from top to bottom. The Gateway receives and delivers messages; bindings select the agent; the agent defines the workspace, model, and policy; the runtime executes the loop; and nodes extend execution to other devices.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4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2:25–3:05
Address the key points: Markdown files provide context; active sessions and credentials live outside the workspace in SQLite state. A node is a paired companion host, but every command remains controlled.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5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3:05–3:40
The same characteristic appears on both sides: real access. It enables useful automation, but it also increases operational and security responsibility.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6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3:40–4:30
There is no absolute winner. OpenClaw is the shortcut to a connected assistant. AgentCore is a managed operational platform. LangGraph is the tool for designing the workflow.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7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dirty="0"/>
              <ns1:t>4:30–5:00
Close without alarmism: OpenClaw is useful precisely because it has access. The mature decision is not to remove every capability, but to reduce privilege, isolate execution, and operate it well.</ns1:t>
            </ns1:r>
            <ns1:endParaRPr lang="en-US" dirty="0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8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A52"/>
          </a:solidFill>
          <a:ln w="12700">
            <a:solidFill>
              <a:srgbClr val="FF5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0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FF6B6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OPENCLAW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D8597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D8597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1">
    <ns0:bg>
      <ns0:bgPr>
        <ns1:solidFill>
          <ns1:srgbClr val="0B0D12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8503920" y="594360"/>
            <ns1:ext cx="3154680" cy="3154680"/>
          </ns1:xfrm>
          <ns1:prstGeom prst="ellipse">
            <ns1:avLst/>
          </ns1:prstGeom>
          <ns1:solidFill>
            <ns1:srgbClr val="FF5A52">
              <ns1:alpha val="12000"/>
            </ns1:srgbClr>
          </ns1:solidFill>
          <ns1:ln w="12700">
            <ns1:solidFill>
              <ns1:srgbClr val="FF5A52">
                <ns1:alpha val="0"/>
              </ns1:srgbClr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9144000" y="1234440"/>
            <ns1:ext cx="1874520" cy="1874520"/>
          </ns1:xfrm>
          <ns1:prstGeom prst="ellipse">
            <ns1:avLst/>
          </ns1:prstGeom>
          <ns1:solidFill>
            <ns1:srgbClr val="FF5A52">
              <ns1:alpha val="28000"/>
            </ns1:srgbClr>
          </ns1:solidFill>
          <ns1:ln w="12700">
            <ns1:solidFill>
              <ns1:srgbClr val="FF5A52">
                <ns1:alpha val="0"/>
              </ns1:srgbClr>
            </ns1:solidFill>
            <ns1:prstDash val="solid"/>
          </ns1:ln>
        </ns0:spPr>
      </ns0:sp>
      <ns0:sp>
        <ns0:nvSpPr>
          <ns0:cNvPr id="4" name="Text 2"/>
          <ns0:cNvSpPr/>
          <ns0:nvPr/>
        </ns0:nvSpPr>
        <ns0:spPr>
          <ns1:xfrm>
            <ns1:off x="640080" y="658368"/>
            <ns1:ext cx="31089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spc="250" kern="0" dirty="0">
                <ns1:solidFill>
                  <ns1:srgbClr val="FF5A52"/>
                </ns1:solidFill>
              </ns1:rPr>
              <ns1:t>OPENCLAW</ns1:t>
            </ns1:r>
            <ns1:endParaRPr lang="en-US" sz="1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621792" y="1325880"/>
            <ns1:ext cx="7680960" cy="1508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4200" b="1" dirty="0">
                <ns1:solidFill>
                  <ns1:srgbClr val="F4F7FB"/>
                </ns1:solidFill>
              </ns1:rPr>
              <ns1:t>From conversation</ns1:t>
            </ns1:r>
            <ns1:endParaRPr lang="en-US" sz="4200" dirty="0"/>
          </ns1:p>
          <ns1:p>
            <ns1:pPr indent="0" marL="0">
              <ns1:buNone/>
            </ns1:pPr>
            <ns1:r>
              <ns1:rPr lang="en-US" sz="4200" b="1" dirty="0">
                <ns1:solidFill>
                  <ns1:srgbClr val="F4F7FB"/>
                </ns1:solidFill>
              </ns1:rPr>
              <ns1:t>to action</ns1:t>
            </ns1:r>
            <ns1:endParaRPr lang="en-US" sz="4200" dirty="0"/>
          </ns1:p>
        </ns0:txBody>
      </ns0:sp>
      <ns0:sp>
        <ns0:nvSpPr>
          <ns0:cNvPr id="6" name="Text 4"/>
          <ns0:cNvSpPr/>
          <ns0:nvPr/>
        </ns0:nvSpPr>
        <ns0:spPr>
          <ns1:xfrm>
            <ns1:off x="658368" y="2926080"/>
            <ns1:ext cx="484632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300" i="1" dirty="0">
                <ns1:solidFill>
                  <ns1:srgbClr val="FF7A72"/>
                </ns1:solidFill>
              </ns1:rPr>
              <ns1:t>under your rules</ns1:t>
            </ns1:r>
            <ns1:endParaRPr lang="en-US" sz="2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658368" y="3703320"/>
            <ns1:ext cx="6080760" cy="0"/>
          </ns1:xfrm>
          <ns1:prstGeom prst="line">
            <ns1:avLst/>
          </ns1:prstGeom>
          <ns1:noFill/>
          <ns1:ln w="15240">
            <ns1:solidFill>
              <ns1:srgbClr val="303849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658368" y="3950208"/>
            <ns1:ext cx="6812280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700" dirty="0">
                <ns1:solidFill>
                  <ns1:srgbClr val="A9B1C1"/>
                </ns1:solidFill>
              </ns1:rPr>
              <ns1:t>A self-hosted layer connecting channels, agents, models, memory, and tools.</ns1:t>
            </ns1:r>
            <ns1:endParaRPr lang="en-US" sz="17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658368" y="5166360"/>
            <ns1:ext cx="822960" cy="310896"/>
          </ns1:xfrm>
          <ns1:prstGeom prst="roundRect">
            <ns1:avLst>
              <ns1:gd name="adj" fmla="val 20588"/>
            </ns1:avLst>
          </ns1:prstGeom>
          <ns1:solidFill>
            <ns1:srgbClr val="4BD6C8">
              <ns1:alpha val="18000"/>
            </ns1:srgbClr>
          </ns1:solidFill>
          <ns1:ln w="12700">
            <ns1:solidFill>
              <ns1:srgbClr val="4BD6C8">
                <ns1:alpha val="65000"/>
              </ns1:srgbClr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731520" y="5216652"/>
            <ns1:ext cx="67665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4BD6C8"/>
                </ns1:solidFill>
              </ns1:rPr>
              <ns1:t>5 MIN</ns1:t>
            </ns1:r>
            <ns1:endParaRPr lang="en-US" sz="8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664208" y="5166360"/>
            <ns1:ext cx="1417320" cy="310896"/>
          </ns1:xfrm>
          <ns1:prstGeom prst="roundRect">
            <ns1:avLst>
              <ns1:gd name="adj" fmla="val 20588"/>
            </ns1:avLst>
          </ns1:prstGeom>
          <ns1:solidFill>
            <ns1:srgbClr val="63A4FF">
              <ns1:alpha val="18000"/>
            </ns1:srgbClr>
          </ns1:solidFill>
          <ns1:ln w="12700">
            <ns1:solidFill>
              <ns1:srgbClr val="63A4FF">
                <ns1:alpha val="65000"/>
              </ns1:srgbClr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737360" y="5216652"/>
            <ns1:ext cx="12710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63A4FF"/>
                </ns1:solidFill>
              </ns1:rPr>
              <ns1:t>ARCHITECTURE</ns1:t>
            </ns1:r>
            <ns1:endParaRPr lang="en-US" sz="8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3264408" y="5166360"/>
            <ns1:ext cx="1280160" cy="310896"/>
          </ns1:xfrm>
          <ns1:prstGeom prst="roundRect">
            <ns1:avLst>
              <ns1:gd name="adj" fmla="val 20588"/>
            </ns1:avLst>
          </ns1:prstGeom>
          <ns1:solidFill>
            <ns1:srgbClr val="F6C85F">
              <ns1:alpha val="18000"/>
            </ns1:srgbClr>
          </ns1:solidFill>
          <ns1:ln w="12700">
            <ns1:solidFill>
              <ns1:srgbClr val="F6C85F">
                <ns1:alpha val="65000"/>
              </ns1:srgbClr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3337560" y="5216652"/>
            <ns1:ext cx="113385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6C85F"/>
                </ns1:solidFill>
              </ns1:rPr>
              <ns1:t>TRADE-OFFS</ns1:t>
            </ns1:r>
            <ns1:endParaRPr lang="en-US" sz="8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658368" y="5806440"/>
            <ns1:ext cx="41148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00" dirty="0">
                <ns1:solidFill>
                  <ns1:srgbClr val="7D8597"/>
                </ns1:solidFill>
              </ns1:rPr>
              <ns1:t>Jeferson Lemos · 27 AUG 2026</ns1:t>
            </ns1:r>
            <ns1:endParaRPr lang="en-US" sz="90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1</ns1:t>
            </ns1:fld>
            <ns1:endParaRPr lang="en-US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01 · DEFINITION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What is OpenClaw?</ns1:t>
            </ns1:r>
            <ns1:endParaRPr lang="en-US" sz="26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12064" y="1353312"/>
            <ns1:ext cx="704088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FF7A72"/>
                </ns1:solidFill>
              </ns1:rPr>
              <ns1:t>It is not the model. It is the orchestration layer.</ns1:t>
            </ns1:r>
            <ns1:endParaRPr lang="en-US" sz="18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983480" y="2990088"/>
            <ns1:ext cx="2240280" cy="1325880"/>
          </ns1:xfrm>
          <ns1:prstGeom prst="ellipse">
            <ns1:avLst/>
          </ns1:prstGeom>
          <ns1:solidFill>
            <ns1:srgbClr val="FF5A52">
              <ns1:alpha val="92000"/>
            </ns1:srgbClr>
          </ns1:solidFill>
          <ns1:ln w="19050">
            <ns1:solidFill>
              <ns1:srgbClr val="FF7A72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5212080" y="3328416"/>
            <ns1:ext cx="17830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800" b="1" dirty="0">
                <ns1:solidFill>
                  <ns1:srgbClr val="FFFFFF"/>
                </ns1:solidFill>
              </ns1:rPr>
              <ns1:t>GATEWAY</ns1:t>
            </ns1:r>
            <ns1:endParaRPr lang="en-US" sz="18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5148072" y="3703320"/>
            <ns1:ext cx="192024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780" dirty="0">
                <ns1:solidFill>
                  <ns1:srgbClr val="FFFFFF"/>
                </ns1:solidFill>
              </ns1:rPr>
              <ns1:t>routes · persists · controls</ns1:t>
            </ns1:r>
            <ns1:endParaRPr lang="en-US" sz="78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594360" y="1828800"/>
            <ns1:ext cx="2331720" cy="1005840"/>
          </ns1:xfrm>
          <ns1:prstGeom prst="roundRect">
            <ns1:avLst>
              <ns1:gd name="adj" fmla="val 5455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>
            <ns1:off x="594360" y="1828800"/>
            <ns1:ext cx="64008" cy="1005840"/>
          </ns1:xfrm>
          <ns1:prstGeom prst="rect">
            <ns1:avLst/>
          </ns1:prstGeom>
          <ns1:solidFill>
            <ns1:srgbClr val="4BD6C8"/>
          </ns1:solidFill>
          <ns1:ln w="12700">
            <ns1:solidFill>
              <ns1:srgbClr val="4BD6C8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850392" y="2029968"/>
            <ns1:ext cx="1828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CHANNELS</ns1:t>
            </ns1:r>
            <ns1:endParaRPr lang="en-US" sz="14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850392" y="2468880"/>
            <ns1:ext cx="1856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WhatsApp · Slack · WebChat</ns1:t>
            </ns1:r>
            <ns1:endParaRPr lang="en-US" sz="105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594360" y="4343400"/>
            <ns1:ext cx="2331720" cy="1005840"/>
          </ns1:xfrm>
          <ns1:prstGeom prst="roundRect">
            <ns1:avLst>
              <ns1:gd name="adj" fmla="val 5455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>
            <ns1:off x="594360" y="4343400"/>
            <ns1:ext cx="64008" cy="1005840"/>
          </ns1:xfrm>
          <ns1:prstGeom prst="rect">
            <ns1:avLst/>
          </ns1:prstGeom>
          <ns1:solidFill>
            <ns1:srgbClr val="63A4FF"/>
          </ns1:solidFill>
          <ns1:ln w="12700">
            <ns1:solidFill>
              <ns1:srgbClr val="63A4FF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850392" y="4544568"/>
            <ns1:ext cx="1828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PEOPLE</ns1:t>
            </ns1:r>
            <ns1:endParaRPr lang="en-US" sz="14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850392" y="4983480"/>
            <ns1:ext cx="1856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conversations · groups · context</ns1:t>
            </ns1:r>
            <ns1:endParaRPr lang="en-US" sz="105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9189720" y="1828800"/>
            <ns1:ext cx="2331720" cy="1005840"/>
          </ns1:xfrm>
          <ns1:prstGeom prst="roundRect">
            <ns1:avLst>
              <ns1:gd name="adj" fmla="val 5455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9189720" y="1828800"/>
            <ns1:ext cx="64008" cy="1005840"/>
          </ns1:xfrm>
          <ns1:prstGeom prst="rect">
            <ns1:avLst/>
          </ns1:prstGeom>
          <ns1:solidFill>
            <ns1:srgbClr val="F6C85F"/>
          </ns1:solidFill>
          <ns1:ln w="12700">
            <ns1:solidFill>
              <ns1:srgbClr val="F6C85F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9445752" y="2029968"/>
            <ns1:ext cx="1828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MODELS</ns1:t>
            </ns1:r>
            <ns1:endParaRPr lang="en-US" sz="14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9445752" y="2468880"/>
            <ns1:ext cx="1856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OpenAI · Anthropic · local</ns1:t>
            </ns1:r>
            <ns1:endParaRPr lang="en-US" sz="10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9189720" y="4343400"/>
            <ns1:ext cx="2331720" cy="1005840"/>
          </ns1:xfrm>
          <ns1:prstGeom prst="roundRect">
            <ns1:avLst>
              <ns1:gd name="adj" fmla="val 5455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9189720" y="4343400"/>
            <ns1:ext cx="64008" cy="1005840"/>
          </ns1:xfrm>
          <ns1:prstGeom prst="rect">
            <ns1:avLst/>
          </ns1:prstGeom>
          <ns1:solidFill>
            <ns1:srgbClr val="64D98B"/>
          </ns1:solidFill>
          <ns1:ln w="12700">
            <ns1:solidFill>
              <ns1:srgbClr val="64D98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9445752" y="4544568"/>
            <ns1:ext cx="1828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ACTIONS</ns1:t>
            </ns1:r>
            <ns1:endParaRPr lang="en-US" sz="14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9445752" y="4983480"/>
            <ns1:ext cx="1856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files · browser · APIs · nodes</ns1:t>
            </ns1:r>
            <ns1:endParaRPr lang="en-US" sz="105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2971800" y="2331720"/>
            <ns1:ext cx="1984248" cy="978408"/>
          </ns1:xfrm>
          <ns1:prstGeom prst="line">
            <ns1:avLst/>
          </ns1:prstGeom>
          <ns1:noFill/>
          <ns1:ln w="25400">
            <ns1:solidFill>
              <ns1:srgbClr val="4BD6C8"/>
            </ns1:solidFill>
            <ns1:prstDash val="solid"/>
            <ns1:headEnd type="none"/>
            <ns1:tailEnd type="triangle"/>
          </ns1:ln>
        </ns0:spPr>
      </ns0:sp>
      <ns0:sp>
        <ns0:nvSpPr>
          <ns0:cNvPr id="25" name="Shape 23"/>
          <ns0:cNvSpPr/>
          <ns0:nvPr/>
        </ns0:nvSpPr>
        <ns0:spPr>
          <ns1:xfrm>
            <ns1:off x="2971800" y="4828032"/>
            <ns1:ext cx="1984248" cy="-850392"/>
          </ns1:xfrm>
          <ns1:prstGeom prst="line">
            <ns1:avLst/>
          </ns1:prstGeom>
          <ns1:noFill/>
          <ns1:ln w="25400">
            <ns1:solidFill>
              <ns1:srgbClr val="63A4FF"/>
            </ns1:solidFill>
            <ns1:prstDash val="solid"/>
            <ns1:headEnd type="none"/>
            <ns1:tailEnd type="triangle"/>
          </ns1:ln>
        </ns0:spPr>
      </ns0:sp>
      <ns0:sp>
        <ns0:nvSpPr>
          <ns0:cNvPr id="26" name="Shape 24"/>
          <ns0:cNvSpPr/>
          <ns0:nvPr/>
        </ns0:nvSpPr>
        <ns0:spPr>
          <ns1:xfrm>
            <ns1:off x="7251192" y="3310128"/>
            <ns1:ext cx="1892808" cy="-978408"/>
          </ns1:xfrm>
          <ns1:prstGeom prst="line">
            <ns1:avLst/>
          </ns1:prstGeom>
          <ns1:noFill/>
          <ns1:ln w="25400">
            <ns1:solidFill>
              <ns1:srgbClr val="F6C85F"/>
            </ns1:solidFill>
            <ns1:prstDash val="solid"/>
            <ns1:headEnd type="none"/>
            <ns1:tailEnd type="triangle"/>
          </ns1:ln>
        </ns0:spPr>
      </ns0:sp>
      <ns0:sp>
        <ns0:nvSpPr>
          <ns0:cNvPr id="27" name="Shape 25"/>
          <ns0:cNvSpPr/>
          <ns0:nvPr/>
        </ns0:nvSpPr>
        <ns0:spPr>
          <ns1:xfrm>
            <ns1:off x="7251192" y="3977640"/>
            <ns1:ext cx="1892808" cy="850392"/>
          </ns1:xfrm>
          <ns1:prstGeom prst="line">
            <ns1:avLst/>
          </ns1:prstGeom>
          <ns1:noFill/>
          <ns1:ln w="25400">
            <ns1:solidFill>
              <ns1:srgbClr val="64D98B"/>
            </ns1:solidFill>
            <ns1:prstDash val="solid"/>
            <ns1:headEnd type="none"/>
            <ns1:tailEnd type="triangle"/>
          </ns1:ln>
        </ns0:spPr>
      </ns0:sp>
      <ns0:sp>
        <ns0:nvSpPr>
          <ns0:cNvPr id="28" name="Text 26"/>
          <ns0:cNvSpPr/>
          <ns0:nvPr/>
        </ns0:nvSpPr>
        <ns0:spPr>
          <ns1:xfrm>
            <ns1:off x="3108960" y="5669280"/>
            <ns1:ext cx="59436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150" dirty="0">
                <ns1:solidFill>
                  <ns1:srgbClr val="A9B1C1"/>
                </ns1:solidFill>
              </ns1:rPr>
              <ns1:t>Self-hosted • multi-agent • channel-first • persistent state</ns1:t>
            </ns1:r>
            <ns1:endParaRPr lang="en-US" sz="11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1874520" y="6473952"/>
            <ns1:ext cx="90068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620" dirty="0">
                <ns1:solidFill>
                  <ns1:srgbClr val="70798B"/>
                </ns1:solidFill>
              </ns1:rPr>
              <ns1:t>Source: docs.openclaw.ai — Gateway architecture, multi-agent routing, and agent workspace</ns1:t>
            </ns1:r>
            <ns1:endParaRPr lang="en-US" sz="62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2</ns1:t>
            </ns1:fld>
            <ns1:endParaRPr lang="en-US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02 · HOW IT WORKS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How a message becomes an action</ns1:t>
            </ns1:r>
            <ns1:endParaRPr lang="en-US" sz="26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12064" y="1325880"/>
            <ns1:ext cx="987552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00" dirty="0">
                <ns1:solidFill>
                  <ns1:srgbClr val="A9B1C1"/>
                </ns1:solidFill>
              </ns1:rPr>
              <ns1:t>The model reasons. The Gateway maintains identity, state, policy, and delivery.</ns1:t>
            </ns1:r>
            <ns1:endParaRPr lang="en-US" sz="15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566928" y="2148840"/>
            <ns1:ext cx="1874520" cy="2286000"/>
          </ns1:xfrm>
          <ns1:prstGeom prst="roundRect">
            <ns1:avLst>
              <ns1:gd name="adj" fmla="val 3902"/>
            </ns1:avLst>
          </ns1:prstGeom>
          <ns1:solidFill>
            <ns1:srgbClr val="151922"/>
          </ns1:solidFill>
          <ns1:ln w="15240">
            <ns1:solidFill>
              <ns1:srgbClr val="4BD6C8">
                <ns1:alpha val="70000"/>
              </ns1:srgbClr>
            </ns1:solidFill>
            <ns1:prstDash val="solid"/>
          </ns1:ln>
        </ns0:spPr>
      </ns0:sp>
      <ns0:sp>
        <ns0:nvSpPr>
          <ns0:cNvPr id="6" name="Shape 4"/>
          <ns0:cNvSpPr/>
          <ns0:nvPr/>
        </ns0:nvSpPr>
        <ns0:spPr>
          <ns1:xfrm>
            <ns1:off x="1225296" y="2377440"/>
            <ns1:ext cx="548640" cy="548640"/>
          </ns1:xfrm>
          <ns1:prstGeom prst="ellipse">
            <ns1:avLst/>
          </ns1:prstGeom>
          <ns1:solidFill>
            <ns1:srgbClr val="4BD6C8"/>
          </ns1:solidFill>
          <ns1:ln w="12700">
            <ns1:solidFill>
              <ns1:srgbClr val="4BD6C8"/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1225296" y="2487168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1</ns1:t>
            </ns1:r>
            <ns1:endParaRPr lang="en-US" sz="12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31520" y="3136392"/>
            <ns1:ext cx="154533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4F7FB"/>
                </ns1:solidFill>
              </ns1:rPr>
              <ns1:t>Message</ns1:t>
            </ns1:r>
            <ns1:endParaRPr lang="en-US" sz="150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731520" y="3611880"/>
            <ns1:ext cx="1545336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WhatsApp receives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the request</ns1:t>
            </ns1:r>
            <ns1:endParaRPr lang="en-US" sz="105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2514600" y="3291840"/>
            <ns1:ext cx="246888" cy="0"/>
          </ns1:xfrm>
          <ns1:prstGeom prst="line">
            <ns1:avLst/>
          </ns1:prstGeom>
          <ns1:noFill/>
          <ns1:ln w="22860">
            <ns1:solidFill>
              <ns1:srgbClr val="303849"/>
            </ns1:solidFill>
            <ns1:prstDash val="solid"/>
            <ns1:headEnd type="none"/>
            <ns1:tailEnd type="triangle"/>
          </ns1:ln>
        </ns0:spPr>
      </ns0:sp>
      <ns0:sp>
        <ns0:nvSpPr>
          <ns0:cNvPr id="11" name="Shape 9"/>
          <ns0:cNvSpPr/>
          <ns0:nvPr/>
        </ns0:nvSpPr>
        <ns0:spPr>
          <ns1:xfrm>
            <ns1:off x="2834640" y="2148840"/>
            <ns1:ext cx="1874520" cy="2286000"/>
          </ns1:xfrm>
          <ns1:prstGeom prst="roundRect">
            <ns1:avLst>
              <ns1:gd name="adj" fmla="val 3902"/>
            </ns1:avLst>
          </ns1:prstGeom>
          <ns1:solidFill>
            <ns1:srgbClr val="151922"/>
          </ns1:solidFill>
          <ns1:ln w="15240">
            <ns1:solidFill>
              <ns1:srgbClr val="63A4FF">
                <ns1:alpha val="70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3493008" y="2377440"/>
            <ns1:ext cx="548640" cy="548640"/>
          </ns1:xfrm>
          <ns1:prstGeom prst="ellipse">
            <ns1:avLst/>
          </ns1:prstGeom>
          <ns1:solidFill>
            <ns1:srgbClr val="63A4FF"/>
          </ns1:solidFill>
          <ns1:ln w="12700">
            <ns1:solidFill>
              <ns1:srgbClr val="63A4FF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3493008" y="2487168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2</ns1:t>
            </ns1:r>
            <ns1:endParaRPr lang="en-US" sz="12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2999232" y="3136392"/>
            <ns1:ext cx="154533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4F7FB"/>
                </ns1:solidFill>
              </ns1:rPr>
              <ns1:t>Binding</ns1:t>
            </ns1:r>
            <ns1:endParaRPr lang="en-US" sz="15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2999232" y="3611880"/>
            <ns1:ext cx="1545336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a rule selects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the agent</ns1:t>
            </ns1:r>
            <ns1:endParaRPr lang="en-US" sz="105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4782312" y="3291840"/>
            <ns1:ext cx="246888" cy="0"/>
          </ns1:xfrm>
          <ns1:prstGeom prst="line">
            <ns1:avLst/>
          </ns1:prstGeom>
          <ns1:noFill/>
          <ns1:ln w="22860">
            <ns1:solidFill>
              <ns1:srgbClr val="303849"/>
            </ns1:solidFill>
            <ns1:prstDash val="solid"/>
            <ns1:headEnd type="none"/>
            <ns1:tailEnd type="triangle"/>
          </ns1:ln>
        </ns0:spPr>
      </ns0:sp>
      <ns0:sp>
        <ns0:nvSpPr>
          <ns0:cNvPr id="17" name="Shape 15"/>
          <ns0:cNvSpPr/>
          <ns0:nvPr/>
        </ns0:nvSpPr>
        <ns0:spPr>
          <ns1:xfrm>
            <ns1:off x="5102352" y="2148840"/>
            <ns1:ext cx="1874520" cy="2286000"/>
          </ns1:xfrm>
          <ns1:prstGeom prst="roundRect">
            <ns1:avLst>
              <ns1:gd name="adj" fmla="val 3902"/>
            </ns1:avLst>
          </ns1:prstGeom>
          <ns1:solidFill>
            <ns1:srgbClr val="151922"/>
          </ns1:solidFill>
          <ns1:ln w="15240">
            <ns1:solidFill>
              <ns1:srgbClr val="FF5A52">
                <ns1:alpha val="70000"/>
              </ns1:srgbClr>
            </ns1:solidFill>
            <ns1:prstDash val="solid"/>
          </ns1:ln>
        </ns0:spPr>
      </ns0:sp>
      <ns0:sp>
        <ns0:nvSpPr>
          <ns0:cNvPr id="18" name="Shape 16"/>
          <ns0:cNvSpPr/>
          <ns0:nvPr/>
        </ns0:nvSpPr>
        <ns0:spPr>
          <ns1:xfrm>
            <ns1:off x="5760720" y="2377440"/>
            <ns1:ext cx="548640" cy="548640"/>
          </ns1:xfrm>
          <ns1:prstGeom prst="ellipse">
            <ns1:avLst/>
          </ns1:prstGeom>
          <ns1:solidFill>
            <ns1:srgbClr val="FF5A52"/>
          </ns1:solidFill>
          <ns1:ln w="12700">
            <ns1:solidFill>
              <ns1:srgbClr val="FF5A52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5760720" y="2487168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3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5266944" y="3136392"/>
            <ns1:ext cx="154533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4F7FB"/>
                </ns1:solidFill>
              </ns1:rPr>
              <ns1:t>Session</ns1:t>
            </ns1:r>
            <ns1:endParaRPr lang="en-US" sz="150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5266944" y="3611880"/>
            <ns1:ext cx="1545336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history +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workspace</ns1:t>
            </ns1:r>
            <ns1:endParaRPr lang="en-US" sz="105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7050024" y="3291840"/>
            <ns1:ext cx="246888" cy="0"/>
          </ns1:xfrm>
          <ns1:prstGeom prst="line">
            <ns1:avLst/>
          </ns1:prstGeom>
          <ns1:noFill/>
          <ns1:ln w="22860">
            <ns1:solidFill>
              <ns1:srgbClr val="303849"/>
            </ns1:solidFill>
            <ns1:prstDash val="solid"/>
            <ns1:headEnd type="none"/>
            <ns1:tailEnd type="triangle"/>
          </ns1:ln>
        </ns0:spPr>
      </ns0:sp>
      <ns0:sp>
        <ns0:nvSpPr>
          <ns0:cNvPr id="23" name="Shape 21"/>
          <ns0:cNvSpPr/>
          <ns0:nvPr/>
        </ns0:nvSpPr>
        <ns0:spPr>
          <ns1:xfrm>
            <ns1:off x="7370064" y="2148840"/>
            <ns1:ext cx="1874520" cy="2286000"/>
          </ns1:xfrm>
          <ns1:prstGeom prst="roundRect">
            <ns1:avLst>
              <ns1:gd name="adj" fmla="val 3902"/>
            </ns1:avLst>
          </ns1:prstGeom>
          <ns1:solidFill>
            <ns1:srgbClr val="151922"/>
          </ns1:solidFill>
          <ns1:ln w="15240">
            <ns1:solidFill>
              <ns1:srgbClr val="F6C85F">
                <ns1:alpha val="70000"/>
              </ns1:srgbClr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8028432" y="2377440"/>
            <ns1:ext cx="548640" cy="548640"/>
          </ns1:xfrm>
          <ns1:prstGeom prst="ellipse">
            <ns1:avLst/>
          </ns1:prstGeom>
          <ns1:solidFill>
            <ns1:srgbClr val="F6C85F"/>
          </ns1:solidFill>
          <ns1:ln w="12700">
            <ns1:solidFill>
              <ns1:srgbClr val="F6C85F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8028432" y="2487168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4</ns1:t>
            </ns1:r>
            <ns1:endParaRPr lang="en-US" sz="120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7534656" y="3136392"/>
            <ns1:ext cx="154533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4F7FB"/>
                </ns1:solidFill>
              </ns1:rPr>
              <ns1:t>Runtime</ns1:t>
            </ns1:r>
            <ns1:endParaRPr lang="en-US" sz="15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7534656" y="3611880"/>
            <ns1:ext cx="1545336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the model calls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tools</ns1:t>
            </ns1:r>
            <ns1:endParaRPr lang="en-US" sz="105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9317736" y="3291840"/>
            <ns1:ext cx="246888" cy="0"/>
          </ns1:xfrm>
          <ns1:prstGeom prst="line">
            <ns1:avLst/>
          </ns1:prstGeom>
          <ns1:noFill/>
          <ns1:ln w="22860">
            <ns1:solidFill>
              <ns1:srgbClr val="303849"/>
            </ns1:solidFill>
            <ns1:prstDash val="solid"/>
            <ns1:headEnd type="none"/>
            <ns1:tailEnd type="triangle"/>
          </ns1:ln>
        </ns0:spPr>
      </ns0:sp>
      <ns0:sp>
        <ns0:nvSpPr>
          <ns0:cNvPr id="29" name="Shape 27"/>
          <ns0:cNvSpPr/>
          <ns0:nvPr/>
        </ns0:nvSpPr>
        <ns0:spPr>
          <ns1:xfrm>
            <ns1:off x="9637776" y="2148840"/>
            <ns1:ext cx="1874520" cy="2286000"/>
          </ns1:xfrm>
          <ns1:prstGeom prst="roundRect">
            <ns1:avLst>
              <ns1:gd name="adj" fmla="val 3902"/>
            </ns1:avLst>
          </ns1:prstGeom>
          <ns1:solidFill>
            <ns1:srgbClr val="151922"/>
          </ns1:solidFill>
          <ns1:ln w="15240">
            <ns1:solidFill>
              <ns1:srgbClr val="64D98B">
                <ns1:alpha val="70000"/>
              </ns1:srgbClr>
            </ns1:solidFill>
            <ns1:prstDash val="solid"/>
          </ns1:ln>
        </ns0:spPr>
      </ns0:sp>
      <ns0:sp>
        <ns0:nvSpPr>
          <ns0:cNvPr id="30" name="Shape 28"/>
          <ns0:cNvSpPr/>
          <ns0:nvPr/>
        </ns0:nvSpPr>
        <ns0:spPr>
          <ns1:xfrm>
            <ns1:off x="10296144" y="2377440"/>
            <ns1:ext cx="548640" cy="548640"/>
          </ns1:xfrm>
          <ns1:prstGeom prst="ellipse">
            <ns1:avLst/>
          </ns1:prstGeom>
          <ns1:solidFill>
            <ns1:srgbClr val="64D98B"/>
          </ns1:solidFill>
          <ns1:ln w="12700">
            <ns1:solidFill>
              <ns1:srgbClr val="64D98B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10296144" y="2487168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5</ns1:t>
            </ns1:r>
            <ns1:endParaRPr lang="en-US" sz="120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9802368" y="3136392"/>
            <ns1:ext cx="154533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4F7FB"/>
                </ns1:solidFill>
              </ns1:rPr>
              <ns1:t>Result</ns1:t>
            </ns1:r>
            <ns1:endParaRPr lang="en-US" sz="1500" dirty="0"/>
          </ns1:p>
        </ns0:txBody>
      </ns0:sp>
      <ns0:sp>
        <ns0:nvSpPr>
          <ns0:cNvPr id="33" name="Text 31"/>
          <ns0:cNvSpPr/>
          <ns0:nvPr/>
        </ns0:nvSpPr>
        <ns0:spPr>
          <ns1:xfrm>
            <ns1:off x="9802368" y="3611880"/>
            <ns1:ext cx="1545336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action + reply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in the channel</ns1:t>
            </ns1:r>
            <ns1:endParaRPr lang="en-US" sz="105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932688" y="4956048"/>
            <ns1:ext cx="10104120" cy="658368"/>
          </ns1:xfrm>
          <ns1:prstGeom prst="roundRect">
            <ns1:avLst>
              <ns1:gd name="adj" fmla="val 6944"/>
            </ns1:avLst>
          </ns1:prstGeom>
          <ns1:solidFill>
            <ns1:srgbClr val="FF5A52">
              <ns1:alpha val="13000"/>
            </ns1:srgbClr>
          </ns1:solidFill>
          <ns1:ln w="12700">
            <ns1:solidFill>
              <ns1:srgbClr val="FF5A52">
                <ns1:alpha val="50000"/>
              </ns1:srgbClr>
            </ns1:solidFill>
            <ns1:prstDash val="solid"/>
          </ns1:ln>
        </ns0:spPr>
      </ns0:sp>
      <ns0:sp>
        <ns0:nvSpPr>
          <ns0:cNvPr id="35" name="Text 33"/>
          <ns0:cNvSpPr/>
          <ns0:nvPr/>
        </ns0:nvSpPr>
        <ns0:spPr>
          <ns1:xfrm>
            <ns1:off x="1170432" y="5166360"/>
            <ns1:ext cx="96469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FF7A72"/>
                </ns1:solidFill>
              </ns1:rPr>
              <ns1:t>Hard controls at every step: deterministic routing • tool allow/deny • approvals • sandbox • controlled delivery</ns1:t>
            </ns1:r>
            <ns1:endParaRPr lang="en-US" sz="105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3</ns1:t>
            </ns1:fld>
            <ns1:endParaRPr lang="en-US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03 · TECHNICAL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Architecture: three planes</ns1:t>
            </ns1:r>
            <ns1:endParaRPr lang="en-US" sz="26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66928" y="1444752"/>
            <ns1:ext cx="11045952" cy="987552"/>
          </ns1:xfrm>
          <ns1:prstGeom prst="roundRect">
            <ns1:avLst>
              <ns1:gd name="adj" fmla="val 4630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566928" y="1444752"/>
            <ns1:ext cx="2240280" cy="987552"/>
          </ns1:xfrm>
          <ns1:prstGeom prst="rect">
            <ns1:avLst/>
          </ns1:prstGeom>
          <ns1:solidFill>
            <ns1:srgbClr val="4BD6C8">
              <ns1:alpha val="18000"/>
            </ns1:srgbClr>
          </ns1:solidFill>
          <ns1:ln w="12700">
            <ns1:solidFill>
              <ns1:srgbClr val="4BD6C8">
                <ns1:alpha val="0"/>
              </ns1:srgbClr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777240" y="1755648"/>
            <ns1:ext cx="184708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4BD6C8"/>
                </ns1:solidFill>
              </ns1:rPr>
              <ns1:t>INGRESS AND DELIVERY</ns1:t>
            </ns1:r>
            <ns1:endParaRPr lang="en-US" sz="11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3063240" y="1764792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4BD6C8">
              <ns1:alpha val="18000"/>
            </ns1:srgbClr>
          </ns1:solidFill>
          <ns1:ln w="12700">
            <ns1:solidFill>
              <ns1:srgbClr val="4BD6C8">
                <ns1:alpha val="65000"/>
              </ns1:srgbClr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3136392" y="1815084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4BD6C8"/>
                </ns1:solidFill>
              </ns1:rPr>
              <ns1:t>WhatsApp</ns1:t>
            </ns1:r>
            <ns1:endParaRPr lang="en-US" sz="8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5074920" y="1764792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4BD6C8">
              <ns1:alpha val="18000"/>
            </ns1:srgbClr>
          </ns1:solidFill>
          <ns1:ln w="12700">
            <ns1:solidFill>
              <ns1:srgbClr val="4BD6C8">
                <ns1:alpha val="65000"/>
              </ns1:srgbClr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5148072" y="1815084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4BD6C8"/>
                </ns1:solidFill>
              </ns1:rPr>
              <ns1:t>Slack</ns1:t>
            </ns1:r>
            <ns1:endParaRPr lang="en-US" sz="8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7086600" y="1764792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4BD6C8">
              <ns1:alpha val="18000"/>
            </ns1:srgbClr>
          </ns1:solidFill>
          <ns1:ln w="12700">
            <ns1:solidFill>
              <ns1:srgbClr val="4BD6C8">
                <ns1:alpha val="65000"/>
              </ns1:srgbClr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7159752" y="1815084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4BD6C8"/>
                </ns1:solidFill>
              </ns1:rPr>
              <ns1:t>WebChat</ns1:t>
            </ns1:r>
            <ns1:endParaRPr lang="en-US" sz="8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9098280" y="1764792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4BD6C8">
              <ns1:alpha val="18000"/>
            </ns1:srgbClr>
          </ns1:solidFill>
          <ns1:ln w="12700">
            <ns1:solidFill>
              <ns1:srgbClr val="4BD6C8">
                <ns1:alpha val="65000"/>
              </ns1:srgbClr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9171432" y="1815084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4BD6C8"/>
                </ns1:solidFill>
              </ns1:rPr>
              <ns1:t>Cron / Webhook</ns1:t>
            </ns1:r>
            <ns1:endParaRPr lang="en-US" sz="8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6099048" y="2468880"/>
            <ns1:ext cx="0" cy="283464"/>
          </ns1:xfrm>
          <ns1:prstGeom prst="line">
            <ns1:avLst/>
          </ns1:prstGeom>
          <ns1:noFill/>
          <ns1:ln w="20320">
            <ns1:solidFill>
              <ns1:srgbClr val="4BD6C8"/>
            </ns1:solidFill>
            <ns1:prstDash val="solid"/>
            <ns1:headEnd type="none"/>
            <ns1:tailEnd type="triangle"/>
          </ns1:ln>
        </ns0:spPr>
      </ns0:sp>
      <ns0:sp>
        <ns0:nvSpPr>
          <ns0:cNvPr id="16" name="Shape 14"/>
          <ns0:cNvSpPr/>
          <ns0:nvPr/>
        </ns0:nvSpPr>
        <ns0:spPr>
          <ns1:xfrm>
            <ns1:off x="566928" y="2788920"/>
            <ns1:ext cx="11045952" cy="987552"/>
          </ns1:xfrm>
          <ns1:prstGeom prst="roundRect">
            <ns1:avLst>
              <ns1:gd name="adj" fmla="val 4630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566928" y="2788920"/>
            <ns1:ext cx="2240280" cy="987552"/>
          </ns1:xfrm>
          <ns1:prstGeom prst="rect">
            <ns1:avLst/>
          </ns1:prstGeom>
          <ns1:solidFill>
            <ns1:srgbClr val="FF5A52">
              <ns1:alpha val="18000"/>
            </ns1:srgbClr>
          </ns1:solidFill>
          <ns1:ln w="12700">
            <ns1:solidFill>
              <ns1:srgbClr val="FF5A52">
                <ns1:alpha val="0"/>
              </ns1:srgbClr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777240" y="3099816"/>
            <ns1:ext cx="184708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FF5A52"/>
                </ns1:solidFill>
              </ns1:rPr>
              <ns1:t>CONTROL PLANE — GATEWAY</ns1:t>
            </ns1:r>
            <ns1:endParaRPr lang="en-US" sz="110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3063240" y="3108960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F5A52">
              <ns1:alpha val="18000"/>
            </ns1:srgbClr>
          </ns1:solidFill>
          <ns1:ln w="12700">
            <ns1:solidFill>
              <ns1:srgbClr val="FF5A52">
                <ns1:alpha val="65000"/>
              </ns1:srgbClr>
            </ns1:solidFill>
            <ns1:prstDash val="solid"/>
          </ns1:ln>
        </ns0:spPr>
      </ns0:sp>
      <ns0:sp>
        <ns0:nvSpPr>
          <ns0:cNvPr id="20" name="Text 18"/>
          <ns0:cNvSpPr/>
          <ns0:nvPr/>
        </ns0:nvSpPr>
        <ns0:spPr>
          <ns1:xfrm>
            <ns1:off x="3136392" y="3159252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F5A52"/>
                </ns1:solidFill>
              </ns1:rPr>
              <ns1:t>Bindings</ns1:t>
            </ns1:r>
            <ns1:endParaRPr lang="en-US" sz="80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5074920" y="3108960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F5A52">
              <ns1:alpha val="18000"/>
            </ns1:srgbClr>
          </ns1:solidFill>
          <ns1:ln w="12700">
            <ns1:solidFill>
              <ns1:srgbClr val="FF5A52">
                <ns1:alpha val="65000"/>
              </ns1:srgbClr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5148072" y="3159252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F5A52"/>
                </ns1:solidFill>
              </ns1:rPr>
              <ns1:t>Agents</ns1:t>
            </ns1:r>
            <ns1:endParaRPr lang="en-US" sz="8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7086600" y="3108960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F5A52">
              <ns1:alpha val="18000"/>
            </ns1:srgbClr>
          </ns1:solidFill>
          <ns1:ln w="12700">
            <ns1:solidFill>
              <ns1:srgbClr val="FF5A52">
                <ns1:alpha val="65000"/>
              </ns1:srgbClr>
            </ns1:solidFill>
            <ns1:prstDash val="solid"/>
          </ns1:ln>
        </ns0:spPr>
      </ns0:sp>
      <ns0:sp>
        <ns0:nvSpPr>
          <ns0:cNvPr id="24" name="Text 22"/>
          <ns0:cNvSpPr/>
          <ns0:nvPr/>
        </ns0:nvSpPr>
        <ns0:spPr>
          <ns1:xfrm>
            <ns1:off x="7159752" y="3159252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F5A52"/>
                </ns1:solidFill>
              </ns1:rPr>
              <ns1:t>Sessions</ns1:t>
            </ns1:r>
            <ns1:endParaRPr lang="en-US" sz="8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9098280" y="3108960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F5A52">
              <ns1:alpha val="18000"/>
            </ns1:srgbClr>
          </ns1:solidFill>
          <ns1:ln w="12700">
            <ns1:solidFill>
              <ns1:srgbClr val="FF5A52">
                <ns1:alpha val="65000"/>
              </ns1:srgbClr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9171432" y="3159252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F5A52"/>
                </ns1:solidFill>
              </ns1:rPr>
              <ns1:t>Policies</ns1:t>
            </ns1:r>
            <ns1:endParaRPr lang="en-US" sz="8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6099048" y="3813048"/>
            <ns1:ext cx="0" cy="283464"/>
          </ns1:xfrm>
          <ns1:prstGeom prst="line">
            <ns1:avLst/>
          </ns1:prstGeom>
          <ns1:noFill/>
          <ns1:ln w="20320">
            <ns1:solidFill>
              <ns1:srgbClr val="FF5A52"/>
            </ns1:solidFill>
            <ns1:prstDash val="solid"/>
            <ns1:headEnd type="none"/>
            <ns1:tailEnd type="triangle"/>
          </ns1:ln>
        </ns0:spPr>
      </ns0:sp>
      <ns0:sp>
        <ns0:nvSpPr>
          <ns0:cNvPr id="28" name="Shape 26"/>
          <ns0:cNvSpPr/>
          <ns0:nvPr/>
        </ns0:nvSpPr>
        <ns0:spPr>
          <ns1:xfrm>
            <ns1:off x="566928" y="4133088"/>
            <ns1:ext cx="11045952" cy="987552"/>
          </ns1:xfrm>
          <ns1:prstGeom prst="roundRect">
            <ns1:avLst>
              <ns1:gd name="adj" fmla="val 4630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29" name="Shape 27"/>
          <ns0:cNvSpPr/>
          <ns0:nvPr/>
        </ns0:nvSpPr>
        <ns0:spPr>
          <ns1:xfrm>
            <ns1:off x="566928" y="4133088"/>
            <ns1:ext cx="2240280" cy="987552"/>
          </ns1:xfrm>
          <ns1:prstGeom prst="rect">
            <ns1:avLst/>
          </ns1:prstGeom>
          <ns1:solidFill>
            <ns1:srgbClr val="F6C85F">
              <ns1:alpha val="18000"/>
            </ns1:srgbClr>
          </ns1:solidFill>
          <ns1:ln w="12700">
            <ns1:solidFill>
              <ns1:srgbClr val="F6C85F">
                <ns1:alpha val="0"/>
              </ns1:srgbClr>
            </ns1:solidFill>
            <ns1:prstDash val="solid"/>
          </ns1:ln>
        </ns0:spPr>
      </ns0:sp>
      <ns0:sp>
        <ns0:nvSpPr>
          <ns0:cNvPr id="30" name="Text 28"/>
          <ns0:cNvSpPr/>
          <ns0:nvPr/>
        </ns0:nvSpPr>
        <ns0:spPr>
          <ns1:xfrm>
            <ns1:off x="777240" y="4443984"/>
            <ns1:ext cx="184708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F6C85F"/>
                </ns1:solidFill>
              </ns1:rPr>
              <ns1:t>EXECUTION AND STATE</ns1:t>
            </ns1:r>
            <ns1:endParaRPr lang="en-US" sz="1100" dirty="0"/>
          </ns1:p>
        </ns0:txBody>
      </ns0:sp>
      <ns0:sp>
        <ns0:nvSpPr>
          <ns0:cNvPr id="31" name="Shape 29"/>
          <ns0:cNvSpPr/>
          <ns0:nvPr/>
        </ns0:nvSpPr>
        <ns0:spPr>
          <ns1:xfrm>
            <ns1:off x="3063240" y="4453128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6C85F">
              <ns1:alpha val="18000"/>
            </ns1:srgbClr>
          </ns1:solidFill>
          <ns1:ln w="12700">
            <ns1:solidFill>
              <ns1:srgbClr val="F6C85F">
                <ns1:alpha val="65000"/>
              </ns1:srgbClr>
            </ns1:solidFill>
            <ns1:prstDash val="solid"/>
          </ns1:ln>
        </ns0:spPr>
      </ns0:sp>
      <ns0:sp>
        <ns0:nvSpPr>
          <ns0:cNvPr id="32" name="Text 30"/>
          <ns0:cNvSpPr/>
          <ns0:nvPr/>
        </ns0:nvSpPr>
        <ns0:spPr>
          <ns1:xfrm>
            <ns1:off x="3136392" y="4503420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6C85F"/>
                </ns1:solidFill>
              </ns1:rPr>
              <ns1:t>Models</ns1:t>
            </ns1:r>
            <ns1:endParaRPr lang="en-US" sz="800" dirty="0"/>
          </ns1:p>
        </ns0:txBody>
      </ns0:sp>
      <ns0:sp>
        <ns0:nvSpPr>
          <ns0:cNvPr id="33" name="Shape 31"/>
          <ns0:cNvSpPr/>
          <ns0:nvPr/>
        </ns0:nvSpPr>
        <ns0:spPr>
          <ns1:xfrm>
            <ns1:off x="5074920" y="4453128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6C85F">
              <ns1:alpha val="18000"/>
            </ns1:srgbClr>
          </ns1:solidFill>
          <ns1:ln w="12700">
            <ns1:solidFill>
              <ns1:srgbClr val="F6C85F">
                <ns1:alpha val="65000"/>
              </ns1:srgbClr>
            </ns1:solidFill>
            <ns1:prstDash val="solid"/>
          </ns1:ln>
        </ns0:spPr>
      </ns0:sp>
      <ns0:sp>
        <ns0:nvSpPr>
          <ns0:cNvPr id="34" name="Text 32"/>
          <ns0:cNvSpPr/>
          <ns0:nvPr/>
        </ns0:nvSpPr>
        <ns0:spPr>
          <ns1:xfrm>
            <ns1:off x="5148072" y="4503420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6C85F"/>
                </ns1:solidFill>
              </ns1:rPr>
              <ns1:t>Tools / Skills</ns1:t>
            </ns1:r>
            <ns1:endParaRPr lang="en-US" sz="800" dirty="0"/>
          </ns1:p>
        </ns0:txBody>
      </ns0:sp>
      <ns0:sp>
        <ns0:nvSpPr>
          <ns0:cNvPr id="35" name="Shape 33"/>
          <ns0:cNvSpPr/>
          <ns0:nvPr/>
        </ns0:nvSpPr>
        <ns0:spPr>
          <ns1:xfrm>
            <ns1:off x="7086600" y="4453128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6C85F">
              <ns1:alpha val="18000"/>
            </ns1:srgbClr>
          </ns1:solidFill>
          <ns1:ln w="12700">
            <ns1:solidFill>
              <ns1:srgbClr val="F6C85F">
                <ns1:alpha val="65000"/>
              </ns1:srgbClr>
            </ns1:solidFill>
            <ns1:prstDash val="solid"/>
          </ns1:ln>
        </ns0:spPr>
      </ns0:sp>
      <ns0:sp>
        <ns0:nvSpPr>
          <ns0:cNvPr id="36" name="Text 34"/>
          <ns0:cNvSpPr/>
          <ns0:nvPr/>
        </ns0:nvSpPr>
        <ns0:spPr>
          <ns1:xfrm>
            <ns1:off x="7159752" y="4503420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6C85F"/>
                </ns1:solidFill>
              </ns1:rPr>
              <ns1:t>Workspace / Memory</ns1:t>
            </ns1:r>
            <ns1:endParaRPr lang="en-US" sz="800" dirty="0"/>
          </ns1:p>
        </ns0:txBody>
      </ns0:sp>
      <ns0:sp>
        <ns0:nvSpPr>
          <ns0:cNvPr id="37" name="Shape 35"/>
          <ns0:cNvSpPr/>
          <ns0:nvPr/>
        </ns0:nvSpPr>
        <ns0:spPr>
          <ns1:xfrm>
            <ns1:off x="9098280" y="4453128"/>
            <ns1:ext cx="1645920" cy="310896"/>
          </ns1:xfrm>
          <ns1:prstGeom prst="roundRect">
            <ns1:avLst>
              <ns1:gd name="adj" fmla="val 20588"/>
            </ns1:avLst>
          </ns1:prstGeom>
          <ns1:solidFill>
            <ns1:srgbClr val="F6C85F">
              <ns1:alpha val="18000"/>
            </ns1:srgbClr>
          </ns1:solidFill>
          <ns1:ln w="12700">
            <ns1:solidFill>
              <ns1:srgbClr val="F6C85F">
                <ns1:alpha val="65000"/>
              </ns1:srgbClr>
            </ns1:solidFill>
            <ns1:prstDash val="solid"/>
          </ns1:ln>
        </ns0:spPr>
      </ns0:sp>
      <ns0:sp>
        <ns0:nvSpPr>
          <ns0:cNvPr id="38" name="Text 36"/>
          <ns0:cNvSpPr/>
          <ns0:nvPr/>
        </ns0:nvSpPr>
        <ns0:spPr>
          <ns1:xfrm>
            <ns1:off x="9171432" y="4503420"/>
            <ns1:ext cx="149961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00" b="1" dirty="0">
                <ns1:solidFill>
                  <ns1:srgbClr val="F6C85F"/>
                </ns1:solidFill>
              </ns1:rPr>
              <ns1:t>Nodes</ns1:t>
            </ns1:r>
            <ns1:endParaRPr lang="en-US" sz="800" dirty="0"/>
          </ns1:p>
        </ns0:txBody>
      </ns0:sp>
      <ns0:sp>
        <ns0:nvSpPr>
          <ns0:cNvPr id="39" name="Text 37"/>
          <ns0:cNvSpPr/>
          <ns0:nvPr/>
        </ns0:nvSpPr>
        <ns0:spPr>
          <ns1:xfrm>
            <ns1:off x="621792" y="5559552"/>
            <ns1:ext cx="338328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F4F7FB"/>
                </ns1:solidFill>
              </ns1:rPr>
              <ns1:t>THREE DISTINCT LAYERS</ns1:t>
            </ns1:r>
            <ns1:endParaRPr lang="en-US" sz="1700" dirty="0"/>
          </ns1:p>
        </ns0:txBody>
      </ns0:sp>
      <ns0:sp>
        <ns0:nvSpPr>
          <ns0:cNvPr id="40" name="Text 38"/>
          <ns0:cNvSpPr/>
          <ns0:nvPr/>
        </ns0:nvSpPr>
        <ns0:spPr>
          <ns1:xfrm>
            <ns1:off x="3703320" y="5596128"/>
            <ns1:ext cx="717804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A9B1C1"/>
                </ns1:solidFill>
              </ns1:rPr>
              <ns1:t>Gateway, agent, and model have different responsibilities.</ns1:t>
            </ns1:r>
            <ns1:endParaRPr lang="en-US" sz="1200" dirty="0"/>
          </ns1:p>
        </ns0:txBody>
      </ns0:sp>
      <ns0:sp>
        <ns0:nvSpPr>
          <ns0:cNvPr id="41" name="Text 39"/>
          <ns0:cNvSpPr/>
          <ns0:nvPr/>
        </ns0:nvSpPr>
        <ns0:spPr>
          <ns1:xfrm>
            <ns1:off x="1874520" y="6473952"/>
            <ns1:ext cx="90068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620" dirty="0">
                <ns1:solidFill>
                  <ns1:srgbClr val="70798B"/>
                </ns1:solidFill>
              </ns1:rPr>
              <ns1:t>A session is conversation context; the security boundary comes from policies, approvals, and sandboxing.</ns1:t>
            </ns1:r>
            <ns1:endParaRPr lang="en-US" sz="62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4</ns1:t>
            </ns1:fld>
            <ns1:endParaRPr lang="en-US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04 · WORKSPACE + NODES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Personality, memory, and reach</ns1:t>
            </ns1:r>
            <ns1:endParaRPr lang="en-US" sz="26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12064" y="1307592"/>
            <ns1:ext cx="1014984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00" dirty="0">
                <ns1:solidFill>
                  <ns1:srgbClr val="A9B1C1"/>
                </ns1:solidFill>
              </ns1:rPr>
              <ns1:t>The workspace prepares context. Nodes extend approved actions to other machines.</ns1:t>
            </ns1:r>
            <ns1:endParaRPr lang="en-US" sz="15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640080" y="1901952"/>
            <ns1:ext cx="20116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spc="150" kern="0" dirty="0">
                <ns1:solidFill>
                  <ns1:srgbClr val="FF5A52"/>
                </ns1:solidFill>
              </ns1:rPr>
              <ns1:t>WORKSPACE</ns1:t>
            </ns1:r>
            <ns1:endParaRPr lang="en-US" sz="11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621792" y="2331720"/>
            <ns1:ext cx="2148840" cy="621792"/>
          </ns1:xfrm>
          <ns1:prstGeom prst="roundRect">
            <ns1:avLst>
              <ns1:gd name="adj" fmla="val 5882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68096" y="2441448"/>
            <ns1:ext cx="8686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b="1" dirty="0">
                <ns1:solidFill>
                  <ns1:srgbClr val="F4F7FB"/>
                </ns1:solidFill>
              </ns1:rPr>
              <ns1:t>AGENTS.md</ns1:t>
            </ns1:r>
            <ns1:endParaRPr lang="en-US" sz="95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68096" y="2679192"/>
            <ns1:ext cx="182880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rules and priorities</ns1:t>
            </ns1:r>
            <ns1:endParaRPr lang="en-US" sz="72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3044952" y="2331720"/>
            <ns1:ext cx="2148840" cy="621792"/>
          </ns1:xfrm>
          <ns1:prstGeom prst="roundRect">
            <ns1:avLst>
              <ns1:gd name="adj" fmla="val 5882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3191256" y="2441448"/>
            <ns1:ext cx="8686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b="1" dirty="0">
                <ns1:solidFill>
                  <ns1:srgbClr val="F4F7FB"/>
                </ns1:solidFill>
              </ns1:rPr>
              <ns1:t>SOUL.md</ns1:t>
            </ns1:r>
            <ns1:endParaRPr lang="en-US" sz="95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3191256" y="2679192"/>
            <ns1:ext cx="182880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persona and boundaries</ns1:t>
            </ns1:r>
            <ns1:endParaRPr lang="en-US" sz="72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621792" y="3172968"/>
            <ns1:ext cx="2148840" cy="621792"/>
          </ns1:xfrm>
          <ns1:prstGeom prst="roundRect">
            <ns1:avLst>
              <ns1:gd name="adj" fmla="val 5882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768096" y="3282696"/>
            <ns1:ext cx="8686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b="1" dirty="0">
                <ns1:solidFill>
                  <ns1:srgbClr val="F4F7FB"/>
                </ns1:solidFill>
              </ns1:rPr>
              <ns1:t>USER.md</ns1:t>
            </ns1:r>
            <ns1:endParaRPr lang="en-US" sz="9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768096" y="3520440"/>
            <ns1:ext cx="182880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stable preferences</ns1:t>
            </ns1:r>
            <ns1:endParaRPr lang="en-US" sz="72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3044952" y="3172968"/>
            <ns1:ext cx="2148840" cy="621792"/>
          </ns1:xfrm>
          <ns1:prstGeom prst="roundRect">
            <ns1:avLst>
              <ns1:gd name="adj" fmla="val 5882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3191256" y="3282696"/>
            <ns1:ext cx="8686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b="1" dirty="0">
                <ns1:solidFill>
                  <ns1:srgbClr val="F4F7FB"/>
                </ns1:solidFill>
              </ns1:rPr>
              <ns1:t>MEMORY.md</ns1:t>
            </ns1:r>
            <ns1:endParaRPr lang="en-US" sz="95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3191256" y="3520440"/>
            <ns1:ext cx="182880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curated memory</ns1:t>
            </ns1:r>
            <ns1:endParaRPr lang="en-US" sz="72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621792" y="4014216"/>
            <ns1:ext cx="2148840" cy="621792"/>
          </ns1:xfrm>
          <ns1:prstGeom prst="roundRect">
            <ns1:avLst>
              <ns1:gd name="adj" fmla="val 5882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768096" y="4123944"/>
            <ns1:ext cx="8686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b="1" dirty="0">
                <ns1:solidFill>
                  <ns1:srgbClr val="F4F7FB"/>
                </ns1:solidFill>
              </ns1:rPr>
              <ns1:t>memory/</ns1:t>
            </ns1:r>
            <ns1:endParaRPr lang="en-US" sz="95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68096" y="4361688"/>
            <ns1:ext cx="182880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daily logs</ns1:t>
            </ns1:r>
            <ns1:endParaRPr lang="en-US" sz="72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3044952" y="4014216"/>
            <ns1:ext cx="2148840" cy="621792"/>
          </ns1:xfrm>
          <ns1:prstGeom prst="roundRect">
            <ns1:avLst>
              <ns1:gd name="adj" fmla="val 5882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3191256" y="4123944"/>
            <ns1:ext cx="8686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b="1" dirty="0">
                <ns1:solidFill>
                  <ns1:srgbClr val="F4F7FB"/>
                </ns1:solidFill>
              </ns1:rPr>
              <ns1:t>skills/</ns1:t>
            </ns1:r>
            <ns1:endParaRPr lang="en-US" sz="95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3191256" y="4361688"/>
            <ns1:ext cx="182880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reusable instructions</ns1:t>
            </ns1:r>
            <ns1:endParaRPr lang="en-US" sz="72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6537960" y="1901952"/>
            <ns1:ext cx="20116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spc="150" kern="0" dirty="0">
                <ns1:solidFill>
                  <ns1:srgbClr val="4BD6C8"/>
                </ns1:solidFill>
              </ns1:rPr>
              <ns1:t>NODE</ns1:t>
            </ns1:r>
            <ns1:endParaRPr lang="en-US" sz="11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6510528" y="2359152"/>
            <ns1:ext cx="1920240" cy="1051560"/>
          </ns1:xfrm>
          <ns1:prstGeom prst="roundRect">
            <ns1:avLst>
              <ns1:gd name="adj" fmla="val 4348"/>
            </ns1:avLst>
          </ns1:prstGeom>
          <ns1:solidFill>
            <ns1:srgbClr val="1C2230"/>
          </ns1:solidFill>
          <ns1:ln w="12700">
            <ns1:solidFill>
              <ns1:srgbClr val="4BD6C8">
                <ns1:alpha val="75000"/>
              </ns1:srgbClr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6784848" y="2706624"/>
            <ns1:ext cx="1371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4F7FB"/>
                </ns1:solidFill>
              </ns1:rPr>
              <ns1:t>Gateway</ns1:t>
            </ns1:r>
            <ns1:endParaRPr lang="en-US" sz="15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9418320" y="1783080"/>
            <ns1:ext cx="2057400" cy="868680"/>
          </ns1:xfrm>
          <ns1:prstGeom prst="roundRect">
            <ns1:avLst>
              <ns1:gd name="adj" fmla="val 5263"/>
            </ns1:avLst>
          </ns1:prstGeom>
          <ns1:solidFill>
            <ns1:srgbClr val="151922"/>
          </ns1:solidFill>
          <ns1:ln w="12700">
            <ns1:solidFill>
              <ns1:srgbClr val="4BD6C8">
                <ns1:alpha val="55000"/>
              </ns1:srgbClr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9582912" y="1929384"/>
            <ns1:ext cx="640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F4F7FB"/>
                </ns1:solidFill>
              </ns1:rPr>
              <ns1:t>Mac</ns1:t>
            </ns1:r>
            <ns1:endParaRPr lang="en-US" sz="120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9582912" y="2267712"/>
            <ns1:ext cx="171907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screen · apps · notifications</ns1:t>
            </ns1:r>
            <ns1:endParaRPr lang="en-US" sz="72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8458200" y="2880360"/>
            <ns1:ext cx="886968" cy="-667512"/>
          </ns1:xfrm>
          <ns1:prstGeom prst="line">
            <ns1:avLst/>
          </ns1:prstGeom>
          <ns1:noFill/>
          <ns1:ln w="17780">
            <ns1:solidFill>
              <ns1:srgbClr val="4BD6C8"/>
            </ns1:solidFill>
            <ns1:prstDash val="solid"/>
            <ns1:headEnd type="none"/>
            <ns1:tailEnd type="triangle"/>
          </ns1:ln>
        </ns0:spPr>
      </ns0:sp>
      <ns0:sp>
        <ns0:nvSpPr>
          <ns0:cNvPr id="31" name="Shape 29"/>
          <ns0:cNvSpPr/>
          <ns0:nvPr/>
        </ns0:nvSpPr>
        <ns0:spPr>
          <ns1:xfrm>
            <ns1:off x="9418320" y="3182112"/>
            <ns1:ext cx="2057400" cy="868680"/>
          </ns1:xfrm>
          <ns1:prstGeom prst="roundRect">
            <ns1:avLst>
              <ns1:gd name="adj" fmla="val 5263"/>
            </ns1:avLst>
          </ns1:prstGeom>
          <ns1:solidFill>
            <ns1:srgbClr val="151922"/>
          </ns1:solidFill>
          <ns1:ln w="12700">
            <ns1:solidFill>
              <ns1:srgbClr val="4BD6C8">
                <ns1:alpha val="55000"/>
              </ns1:srgbClr>
            </ns1:solidFill>
            <ns1:prstDash val="solid"/>
          </ns1:ln>
        </ns0:spPr>
      </ns0:sp>
      <ns0:sp>
        <ns0:nvSpPr>
          <ns0:cNvPr id="32" name="Text 30"/>
          <ns0:cNvSpPr/>
          <ns0:nvPr/>
        </ns0:nvSpPr>
        <ns0:spPr>
          <ns1:xfrm>
            <ns1:off x="9582912" y="3328416"/>
            <ns1:ext cx="640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F4F7FB"/>
                </ns1:solidFill>
              </ns1:rPr>
              <ns1:t>Lab</ns1:t>
            </ns1:r>
            <ns1:endParaRPr lang="en-US" sz="1200" dirty="0"/>
          </ns1:p>
        </ns0:txBody>
      </ns0:sp>
      <ns0:sp>
        <ns0:nvSpPr>
          <ns0:cNvPr id="33" name="Text 31"/>
          <ns0:cNvSpPr/>
          <ns0:nvPr/>
        </ns0:nvSpPr>
        <ns0:spPr>
          <ns1:xfrm>
            <ns1:off x="9582912" y="3666744"/>
            <ns1:ext cx="171907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allowlisted commands</ns1:t>
            </ns1:r>
            <ns1:endParaRPr lang="en-US" sz="72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8458200" y="2880360"/>
            <ns1:ext cx="886968" cy="731520"/>
          </ns1:xfrm>
          <ns1:prstGeom prst="line">
            <ns1:avLst/>
          </ns1:prstGeom>
          <ns1:noFill/>
          <ns1:ln w="17780">
            <ns1:solidFill>
              <ns1:srgbClr val="4BD6C8"/>
            </ns1:solidFill>
            <ns1:prstDash val="solid"/>
            <ns1:headEnd type="none"/>
            <ns1:tailEnd type="triangle"/>
          </ns1:ln>
        </ns0:spPr>
      </ns0:sp>
      <ns0:sp>
        <ns0:nvSpPr>
          <ns0:cNvPr id="35" name="Shape 33"/>
          <ns0:cNvSpPr/>
          <ns0:nvPr/>
        </ns0:nvSpPr>
        <ns0:spPr>
          <ns1:xfrm>
            <ns1:off x="9418320" y="4581144"/>
            <ns1:ext cx="2057400" cy="868680"/>
          </ns1:xfrm>
          <ns1:prstGeom prst="roundRect">
            <ns1:avLst>
              <ns1:gd name="adj" fmla="val 5263"/>
            </ns1:avLst>
          </ns1:prstGeom>
          <ns1:solidFill>
            <ns1:srgbClr val="151922"/>
          </ns1:solidFill>
          <ns1:ln w="12700">
            <ns1:solidFill>
              <ns1:srgbClr val="4BD6C8">
                <ns1:alpha val="55000"/>
              </ns1:srgbClr>
            </ns1:solidFill>
            <ns1:prstDash val="solid"/>
          </ns1:ln>
        </ns0:spPr>
      </ns0:sp>
      <ns0:sp>
        <ns0:nvSpPr>
          <ns0:cNvPr id="36" name="Text 34"/>
          <ns0:cNvSpPr/>
          <ns0:nvPr/>
        </ns0:nvSpPr>
        <ns0:spPr>
          <ns1:xfrm>
            <ns1:off x="9582912" y="4727448"/>
            <ns1:ext cx="640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F4F7FB"/>
                </ns1:solidFill>
              </ns1:rPr>
              <ns1:t>Mobile</ns1:t>
            </ns1:r>
            <ns1:endParaRPr lang="en-US" sz="1200" dirty="0"/>
          </ns1:p>
        </ns0:txBody>
      </ns0:sp>
      <ns0:sp>
        <ns0:nvSpPr>
          <ns0:cNvPr id="37" name="Text 35"/>
          <ns0:cNvSpPr/>
          <ns0:nvPr/>
        </ns0:nvSpPr>
        <ns0:spPr>
          <ns1:xfrm>
            <ns1:off x="9582912" y="5065776"/>
            <ns1:ext cx="171907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720" dirty="0">
                <ns1:solidFill>
                  <ns1:srgbClr val="A9B1C1"/>
                </ns1:solidFill>
              </ns1:rPr>
              <ns1:t>camera · location</ns1:t>
            </ns1:r>
            <ns1:endParaRPr lang="en-US" sz="72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8458200" y="2880360"/>
            <ns1:ext cx="886968" cy="2130552"/>
          </ns1:xfrm>
          <ns1:prstGeom prst="line">
            <ns1:avLst/>
          </ns1:prstGeom>
          <ns1:noFill/>
          <ns1:ln w="17780">
            <ns1:solidFill>
              <ns1:srgbClr val="4BD6C8"/>
            </ns1:solidFill>
            <ns1:prstDash val="solid"/>
            <ns1:headEnd type="none"/>
            <ns1:tailEnd type="triangle"/>
          </ns1:ln>
        </ns0:spPr>
      </ns0:sp>
      <ns0:sp>
        <ns0:nvSpPr>
          <ns0:cNvPr id="39" name="Text 37"/>
          <ns0:cNvSpPr/>
          <ns0:nvPr/>
        </ns0:nvSpPr>
        <ns0:spPr>
          <ns1:xfrm>
            <ns1:off x="6537960" y="3913632"/>
            <ns1:ext cx="19659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F6C85F"/>
                </ns1:solidFill>
              </ns1:rPr>
              <ns1:t>Pairing ≠ permission</ns1:t>
            </ns1:r>
            <ns1:endParaRPr lang="en-US" sz="1300" dirty="0"/>
          </ns1:p>
        </ns0:txBody>
      </ns0:sp>
      <ns0:sp>
        <ns0:nvSpPr>
          <ns0:cNvPr id="40" name="Text 38"/>
          <ns0:cNvSpPr/>
          <ns0:nvPr/>
        </ns0:nvSpPr>
        <ns0:spPr>
          <ns1:xfrm>
            <ns1:off x="6510528" y="4343400"/>
            <ns1:ext cx="2011680" cy="594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Execution remains subject to approvals and allowlists.</ns1:t>
            </ns1:r>
            <ns1:endParaRPr lang="en-US" sz="950" dirty="0"/>
          </ns1:p>
        </ns0:txBody>
      </ns0:sp>
      <ns0:sp>
        <ns0:nvSpPr>
          <ns0:cNvPr id="41" name="Text 39"/>
          <ns0:cNvSpPr/>
          <ns0:nvPr/>
        </ns0:nvSpPr>
        <ns0:spPr>
          <ns1:xfrm>
            <ns1:off x="1874520" y="6473952"/>
            <ns1:ext cx="90068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620" dirty="0">
                <ns1:solidFill>
                  <ns1:srgbClr val="70798B"/>
                </ns1:solidFill>
              </ns1:rPr>
              <ns1:t>Sources: docs.openclaw.ai/concepts/agent-workspace · docs.openclaw.ai/nodes</ns1:t>
            </ns1:r>
            <ns1:endParaRPr lang="en-US" sz="62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5</ns1:t>
            </ns1:fld>
            <ns1:endParaRPr lang="en-US"/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6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05 · TRADE-OFFS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Where it shines — and where it hurts</ns1:t>
            </ns1:r>
            <ns1:endParaRPr lang="en-US" sz="26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621792" y="1417320"/>
            <ns1:ext cx="5257800" cy="4526280"/>
          </ns1:xfrm>
          <ns1:prstGeom prst="roundRect">
            <ns1:avLst>
              <ns1:gd name="adj" fmla="val 1212"/>
            </ns1:avLst>
          </ns1:prstGeom>
          <ns1:solidFill>
            <ns1:srgbClr val="64D98B">
              <ns1:alpha val="8000"/>
            </ns1:srgbClr>
          </ns1:solidFill>
          <ns1:ln w="12700">
            <ns1:solidFill>
              <ns1:srgbClr val="64D98B">
                <ns1:alpha val="55000"/>
              </ns1:srgbClr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309360" y="1417320"/>
            <ns1:ext cx="5257800" cy="4526280"/>
          </ns1:xfrm>
          <ns1:prstGeom prst="roundRect">
            <ns1:avLst>
              <ns1:gd name="adj" fmla="val 1212"/>
            </ns1:avLst>
          </ns1:prstGeom>
          <ns1:solidFill>
            <ns1:srgbClr val="FF5A52">
              <ns1:alpha val="7000"/>
            </ns1:srgbClr>
          </ns1:solidFill>
          <ns1:ln w="12700">
            <ns1:solidFill>
              <ns1:srgbClr val="FF5A52">
                <ns1:alpha val="55000"/>
              </ns1:srgbClr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914400" y="1737360"/>
            <ns1:ext cx="109728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64D98B"/>
                </ns1:solidFill>
              </ns1:rPr>
              <ns1:t>PROS</ns1:t>
            </ns1:r>
            <ns1:endParaRPr lang="en-US" sz="18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6601968" y="1737360"/>
            <ns1:ext cx="14630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FF7A72"/>
                </ns1:solidFill>
              </ns1:rPr>
              <ns1:t>CONS</ns1:t>
            </ns1:r>
            <ns1:endParaRPr lang="en-US" sz="180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914400" y="2331720"/>
            <ns1:ext cx="4617720" cy="822960"/>
          </ns1:xfrm>
          <ns1:prstGeom prst="roundRect">
            <ns1:avLst>
              <ns1:gd name="adj" fmla="val 6667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>
            <ns1:off x="914400" y="2331720"/>
            <ns1:ext cx="64008" cy="822960"/>
          </ns1:xfrm>
          <ns1:prstGeom prst="rect">
            <ns1:avLst/>
          </ns1:prstGeom>
          <ns1:solidFill>
            <ns1:srgbClr val="64D98B"/>
          </ns1:solidFill>
          <ns1:ln w="12700">
            <ns1:solidFill>
              <ns1:srgbClr val="64D98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170432" y="2532888"/>
            <ns1:ext cx="4114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Ready channels</ns1:t>
            </ns1:r>
            <ns1:endParaRPr lang="en-US" sz="14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1170432" y="2971800"/>
            <ns1:ext cx="4142232" cy="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Conversation becomes the system interface.</ns1:t>
            </ns1:r>
            <ns1:endParaRPr lang="en-US" sz="105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914400" y="3355848"/>
            <ns1:ext cx="4617720" cy="822960"/>
          </ns1:xfrm>
          <ns1:prstGeom prst="roundRect">
            <ns1:avLst>
              <ns1:gd name="adj" fmla="val 6667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>
            <ns1:off x="914400" y="3355848"/>
            <ns1:ext cx="64008" cy="822960"/>
          </ns1:xfrm>
          <ns1:prstGeom prst="rect">
            <ns1:avLst/>
          </ns1:prstGeom>
          <ns1:solidFill>
            <ns1:srgbClr val="64D98B"/>
          </ns1:solidFill>
          <ns1:ln w="12700">
            <ns1:solidFill>
              <ns1:srgbClr val="64D98B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1170432" y="3557016"/>
            <ns1:ext cx="4114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Local control</ns1:t>
            </ns1:r>
            <ns1:endParaRPr lang="en-US" sz="14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1170432" y="3995928"/>
            <ns1:ext cx="4142232" cy="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Infrastructure, data, and integrations stay under your control.</ns1:t>
            </ns1:r>
            <ns1:endParaRPr lang="en-US" sz="105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914400" y="4379976"/>
            <ns1:ext cx="4617720" cy="822960"/>
          </ns1:xfrm>
          <ns1:prstGeom prst="roundRect">
            <ns1:avLst>
              <ns1:gd name="adj" fmla="val 6667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914400" y="4379976"/>
            <ns1:ext cx="64008" cy="822960"/>
          </ns1:xfrm>
          <ns1:prstGeom prst="rect">
            <ns1:avLst/>
          </ns1:prstGeom>
          <ns1:solidFill>
            <ns1:srgbClr val="64D98B"/>
          </ns1:solidFill>
          <ns1:ln w="12700">
            <ns1:solidFill>
              <ns1:srgbClr val="64D98B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1170432" y="4581144"/>
            <ns1:ext cx="4114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Layered safeguards</ns1:t>
            </ns1:r>
            <ns1:endParaRPr lang="en-US" sz="14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1170432" y="5020056"/>
            <ns1:ext cx="4142232" cy="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Policies, approvals, allowlists, and sandboxes per agent.</ns1:t>
            </ns1:r>
            <ns1:endParaRPr lang="en-US" sz="10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6601968" y="2331720"/>
            <ns1:ext cx="4617720" cy="822960"/>
          </ns1:xfrm>
          <ns1:prstGeom prst="roundRect">
            <ns1:avLst>
              <ns1:gd name="adj" fmla="val 6667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6601968" y="2331720"/>
            <ns1:ext cx="64008" cy="822960"/>
          </ns1:xfrm>
          <ns1:prstGeom prst="rect">
            <ns1:avLst/>
          </ns1:prstGeom>
          <ns1:solidFill>
            <ns1:srgbClr val="FF5A52"/>
          </ns1:solidFill>
          <ns1:ln w="12700">
            <ns1:solidFill>
              <ns1:srgbClr val="FF5A52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6858000" y="2532888"/>
            <ns1:ext cx="4114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You operate it</ns1:t>
            </ns1:r>
            <ns1:endParaRPr lang="en-US" sz="14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6858000" y="2971800"/>
            <ns1:ext cx="4142232" cy="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Updates, backups, observability, and recovery.</ns1:t>
            </ns1:r>
            <ns1:endParaRPr lang="en-US" sz="105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6601968" y="3355848"/>
            <ns1:ext cx="4617720" cy="822960"/>
          </ns1:xfrm>
          <ns1:prstGeom prst="roundRect">
            <ns1:avLst>
              <ns1:gd name="adj" fmla="val 6667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25" name="Shape 23"/>
          <ns0:cNvSpPr/>
          <ns0:nvPr/>
        </ns0:nvSpPr>
        <ns0:spPr>
          <ns1:xfrm>
            <ns1:off x="6601968" y="3355848"/>
            <ns1:ext cx="64008" cy="822960"/>
          </ns1:xfrm>
          <ns1:prstGeom prst="rect">
            <ns1:avLst/>
          </ns1:prstGeom>
          <ns1:solidFill>
            <ns1:srgbClr val="FF5A52"/>
          </ns1:solidFill>
          <ns1:ln w="12700">
            <ns1:solidFill>
              <ns1:srgbClr val="FF5A52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6858000" y="3557016"/>
            <ns1:ext cx="4114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Real blast radius</ns1:t>
            </ns1:r>
            <ns1:endParaRPr lang="en-US" sz="14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6858000" y="3995928"/>
            <ns1:ext cx="4142232" cy="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Excessive privileges can turn an error into an incident.</ns1:t>
            </ns1:r>
            <ns1:endParaRPr lang="en-US" sz="105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6601968" y="4379976"/>
            <ns1:ext cx="4617720" cy="822960"/>
          </ns1:xfrm>
          <ns1:prstGeom prst="roundRect">
            <ns1:avLst>
              <ns1:gd name="adj" fmla="val 6667"/>
            </ns1:avLst>
          </ns1:prstGeom>
          <ns1:solidFill>
            <ns1:srgbClr val="151922"/>
          </ns1:solidFill>
          <ns1:ln w="12700">
            <ns1:solidFill>
              <ns1:srgbClr val="303849"/>
            </ns1:solidFill>
            <ns1:prstDash val="solid"/>
          </ns1:ln>
        </ns0:spPr>
      </ns0:sp>
      <ns0:sp>
        <ns0:nvSpPr>
          <ns0:cNvPr id="29" name="Shape 27"/>
          <ns0:cNvSpPr/>
          <ns0:nvPr/>
        </ns0:nvSpPr>
        <ns0:spPr>
          <ns1:xfrm>
            <ns1:off x="6601968" y="4379976"/>
            <ns1:ext cx="64008" cy="822960"/>
          </ns1:xfrm>
          <ns1:prstGeom prst="rect">
            <ns1:avLst/>
          </ns1:prstGeom>
          <ns1:solidFill>
            <ns1:srgbClr val="FF5A52"/>
          </ns1:solidFill>
          <ns1:ln w="12700">
            <ns1:solidFill>
              <ns1:srgbClr val="FF5A52"/>
            </ns1:solidFill>
            <ns1:prstDash val="solid"/>
          </ns1:ln>
        </ns0:spPr>
      </ns0:sp>
      <ns0:sp>
        <ns0:nvSpPr>
          <ns0:cNvPr id="30" name="Text 28"/>
          <ns0:cNvSpPr/>
          <ns0:nvPr/>
        </ns0:nvSpPr>
        <ns0:spPr>
          <ns1:xfrm>
            <ns1:off x="6858000" y="4581144"/>
            <ns1:ext cx="4114800" cy="3017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F4F7FB"/>
                </ns1:solidFill>
              </ns1:rPr>
              <ns1:t>Limited multi-tenancy</ns1:t>
            </ns1:r>
            <ns1:endParaRPr lang="en-US" sz="1400" dirty="0"/>
          </ns1:p>
        </ns0:txBody>
      </ns0:sp>
      <ns0:sp>
        <ns0:nvSpPr>
          <ns0:cNvPr id="31" name="Text 29"/>
          <ns0:cNvSpPr/>
          <ns0:nvPr/>
        </ns0:nvSpPr>
        <ns0:spPr>
          <ns1:xfrm>
            <ns1:off x="6858000" y="5020056"/>
            <ns1:ext cx="4142232" cy="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A shared Gateway is not a hostile-isolation boundary.</ns1:t>
            </ns1:r>
            <ns1:endParaRPr lang="en-US" sz="105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6</ns1:t>
            </ns1:fld>
            <ns1:endParaRPr lang="en-US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7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06 · COMPARISON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Three choices, three goals</ns1:t>
            </ns1:r>
            <ns1:endParaRPr lang="en-US" sz="26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30352" y="1389888"/>
            <ns1:ext cx="3703320" cy="4526280"/>
          </ns1:xfrm>
          <ns1:prstGeom prst="roundRect">
            <ns1:avLst>
              <ns1:gd name="adj" fmla="val 1481"/>
            </ns1:avLst>
          </ns1:prstGeom>
          <ns1:solidFill>
            <ns1:srgbClr val="151922"/>
          </ns1:solidFill>
          <ns1:ln w="16510">
            <ns1:solidFill>
              <ns1:srgbClr val="FF5A52">
                <ns1:alpha val="80000"/>
              </ns1:srgbClr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530352" y="1389888"/>
            <ns1:ext cx="3703320" cy="109728"/>
          </ns1:xfrm>
          <ns1:prstGeom prst="rect">
            <ns1:avLst/>
          </ns1:prstGeom>
          <ns1:solidFill>
            <ns1:srgbClr val="FF5A52"/>
          </ns1:solidFill>
          <ns1:ln w="12700">
            <ns1:solidFill>
              <ns1:srgbClr val="FF5A52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758952" y="1691640"/>
            <ns1:ext cx="324612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700" b="1" dirty="0">
                <ns1:solidFill>
                  <ns1:srgbClr val="F4F7FB"/>
                </ns1:solidFill>
              </ns1:rPr>
              <ns1:t>OpenClaw</ns1:t>
            </ns1:r>
            <ns1:endParaRPr lang="en-US" sz="17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758952" y="2121408"/>
            <ns1:ext cx="32461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50" dirty="0">
                <ns1:solidFill>
                  <ns1:srgbClr val="FF5A52"/>
                </ns1:solidFill>
              </ns1:rPr>
              <ns1:t>self-hosted product</ns1:t>
            </ns1:r>
            <ns1:endParaRPr lang="en-US" sz="85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86384" y="2651760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F5A52"/>
                </ns1:solidFill>
              </ns1:rPr>
              <ns1:t>FOCUS</ns1:t>
            </ns1:r>
            <ns1:endParaRPr lang="en-US" sz="67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627632" y="2642616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assistant in channels + actions</ns1:t>
            </ns1:r>
            <ns1:endParaRPr lang="en-US" sz="95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786384" y="3090672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11" name="Text 9"/>
          <ns0:cNvSpPr/>
          <ns0:nvPr/>
        </ns0:nvSpPr>
        <ns0:spPr>
          <ns1:xfrm>
            <ns1:off x="786384" y="3364992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F5A52"/>
                </ns1:solidFill>
              </ns1:rPr>
              <ns1:t>DELIVERY</ns1:t>
            </ns1:r>
            <ns1:endParaRPr lang="en-US" sz="670" dirty="0"/>
          </ns1:p>
        </ns0:txBody>
      </ns0:sp>
      <ns0:sp>
        <ns0:nvSpPr>
          <ns0:cNvPr id="12" name="Text 10"/>
          <ns0:cNvSpPr/>
          <ns0:nvPr/>
        </ns0:nvSpPr>
        <ns0:spPr>
          <ns1:xfrm>
            <ns1:off x="1627632" y="3355848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gateway in your infrastructure</ns1:t>
            </ns1:r>
            <ns1:endParaRPr lang="en-US" sz="9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786384" y="3803904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786384" y="4078224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F5A52"/>
                </ns1:solidFill>
              </ns1:rPr>
              <ns1:t>YOU GAIN</ns1:t>
            </ns1:r>
            <ns1:endParaRPr lang="en-US" sz="67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1627632" y="4069080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control and personal integration</ns1:t>
            </ns1:r>
            <ns1:endParaRPr lang="en-US" sz="95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86384" y="4517136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86384" y="4791456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F5A52"/>
                </ns1:solidFill>
              </ns1:rPr>
              <ns1:t>YOU ASSUME</ns1:t>
            </ns1:r>
            <ns1:endParaRPr lang="en-US" sz="67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1627632" y="4782312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operations and hardening</ns1:t>
            </ns1:r>
            <ns1:endParaRPr lang="en-US" sz="95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4251960" y="1389888"/>
            <ns1:ext cx="3703320" cy="4526280"/>
          </ns1:xfrm>
          <ns1:prstGeom prst="roundRect">
            <ns1:avLst>
              <ns1:gd name="adj" fmla="val 1481"/>
            </ns1:avLst>
          </ns1:prstGeom>
          <ns1:solidFill>
            <ns1:srgbClr val="151922"/>
          </ns1:solidFill>
          <ns1:ln w="16510">
            <ns1:solidFill>
              <ns1:srgbClr val="F6C85F">
                <ns1:alpha val="80000"/>
              </ns1:srgbClr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>
            <ns1:off x="4251960" y="1389888"/>
            <ns1:ext cx="3703320" cy="109728"/>
          </ns1:xfrm>
          <ns1:prstGeom prst="rect">
            <ns1:avLst/>
          </ns1:prstGeom>
          <ns1:solidFill>
            <ns1:srgbClr val="F6C85F"/>
          </ns1:solidFill>
          <ns1:ln w="12700">
            <ns1:solidFill>
              <ns1:srgbClr val="F6C85F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4480560" y="1691640"/>
            <ns1:ext cx="324612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700" b="1" dirty="0">
                <ns1:solidFill>
                  <ns1:srgbClr val="F4F7FB"/>
                </ns1:solidFill>
              </ns1:rPr>
              <ns1:t>Bedrock AgentCore</ns1:t>
            </ns1:r>
            <ns1:endParaRPr lang="en-US" sz="170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480560" y="2121408"/>
            <ns1:ext cx="32461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50" dirty="0">
                <ns1:solidFill>
                  <ns1:srgbClr val="F6C85F"/>
                </ns1:solidFill>
              </ns1:rPr>
              <ns1:t>managed AWS platform</ns1:t>
            </ns1:r>
            <ns1:endParaRPr lang="en-US" sz="85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4507992" y="2651760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6C85F"/>
                </ns1:solidFill>
              </ns1:rPr>
              <ns1:t>FOCUS</ns1:t>
            </ns1:r>
            <ns1:endParaRPr lang="en-US" sz="67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5349240" y="2642616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governed agents at scale</ns1:t>
            </ns1:r>
            <ns1:endParaRPr lang="en-US" sz="95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4507992" y="3090672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4507992" y="3364992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6C85F"/>
                </ns1:solidFill>
              </ns1:rPr>
              <ns1:t>DELIVERY</ns1:t>
            </ns1:r>
            <ns1:endParaRPr lang="en-US" sz="67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5349240" y="3355848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managed serverless runtime</ns1:t>
            </ns1:r>
            <ns1:endParaRPr lang="en-US" sz="95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4507992" y="3803904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4507992" y="4078224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6C85F"/>
                </ns1:solidFill>
              </ns1:rPr>
              <ns1:t>YOU GAIN</ns1:t>
            </ns1:r>
            <ns1:endParaRPr lang="en-US" sz="67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5349240" y="4069080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identity, policy, observability</ns1:t>
            </ns1:r>
            <ns1:endParaRPr lang="en-US" sz="950" dirty="0"/>
          </ns1:p>
        </ns0:txBody>
      </ns0:sp>
      <ns0:sp>
        <ns0:nvSpPr>
          <ns0:cNvPr id="31" name="Shape 29"/>
          <ns0:cNvSpPr/>
          <ns0:nvPr/>
        </ns0:nvSpPr>
        <ns0:spPr>
          <ns1:xfrm>
            <ns1:off x="4507992" y="4517136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32" name="Text 30"/>
          <ns0:cNvSpPr/>
          <ns0:nvPr/>
        </ns0:nvSpPr>
        <ns0:spPr>
          <ns1:xfrm>
            <ns1:off x="4507992" y="4791456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F6C85F"/>
                </ns1:solidFill>
              </ns1:rPr>
              <ns1:t>YOU ASSUME</ns1:t>
            </ns1:r>
            <ns1:endParaRPr lang="en-US" sz="670" dirty="0"/>
          </ns1:p>
        </ns0:txBody>
      </ns0:sp>
      <ns0:sp>
        <ns0:nvSpPr>
          <ns0:cNvPr id="33" name="Text 31"/>
          <ns0:cNvSpPr/>
          <ns0:nvPr/>
        </ns0:nvSpPr>
        <ns0:spPr>
          <ns1:xfrm>
            <ns1:off x="5349240" y="4782312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cost and AWS operating model</ns1:t>
            </ns1:r>
            <ns1:endParaRPr lang="en-US" sz="95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7973568" y="1389888"/>
            <ns1:ext cx="3703320" cy="4526280"/>
          </ns1:xfrm>
          <ns1:prstGeom prst="roundRect">
            <ns1:avLst>
              <ns1:gd name="adj" fmla="val 1481"/>
            </ns1:avLst>
          </ns1:prstGeom>
          <ns1:solidFill>
            <ns1:srgbClr val="151922"/>
          </ns1:solidFill>
          <ns1:ln w="16510">
            <ns1:solidFill>
              <ns1:srgbClr val="4BD6C8">
                <ns1:alpha val="80000"/>
              </ns1:srgbClr>
            </ns1:solidFill>
            <ns1:prstDash val="solid"/>
          </ns1:ln>
        </ns0:spPr>
      </ns0:sp>
      <ns0:sp>
        <ns0:nvSpPr>
          <ns0:cNvPr id="35" name="Shape 33"/>
          <ns0:cNvSpPr/>
          <ns0:nvPr/>
        </ns0:nvSpPr>
        <ns0:spPr>
          <ns1:xfrm>
            <ns1:off x="7973568" y="1389888"/>
            <ns1:ext cx="3703320" cy="109728"/>
          </ns1:xfrm>
          <ns1:prstGeom prst="rect">
            <ns1:avLst/>
          </ns1:prstGeom>
          <ns1:solidFill>
            <ns1:srgbClr val="4BD6C8"/>
          </ns1:solidFill>
          <ns1:ln w="12700">
            <ns1:solidFill>
              <ns1:srgbClr val="4BD6C8"/>
            </ns1:solidFill>
            <ns1:prstDash val="solid"/>
          </ns1:ln>
        </ns0:spPr>
      </ns0:sp>
      <ns0:sp>
        <ns0:nvSpPr>
          <ns0:cNvPr id="36" name="Text 34"/>
          <ns0:cNvSpPr/>
          <ns0:nvPr/>
        </ns0:nvSpPr>
        <ns0:spPr>
          <ns1:xfrm>
            <ns1:off x="8202168" y="1691640"/>
            <ns1:ext cx="324612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700" b="1" dirty="0">
                <ns1:solidFill>
                  <ns1:srgbClr val="F4F7FB"/>
                </ns1:solidFill>
              </ns1:rPr>
              <ns1:t>LangGraph</ns1:t>
            </ns1:r>
            <ns1:endParaRPr lang="en-US" sz="1700" dirty="0"/>
          </ns1:p>
        </ns0:txBody>
      </ns0:sp>
      <ns0:sp>
        <ns0:nvSpPr>
          <ns0:cNvPr id="37" name="Text 35"/>
          <ns0:cNvSpPr/>
          <ns0:nvPr/>
        </ns0:nvSpPr>
        <ns0:spPr>
          <ns1:xfrm>
            <ns1:off x="8202168" y="2121408"/>
            <ns1:ext cx="32461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850" dirty="0">
                <ns1:solidFill>
                  <ns1:srgbClr val="4BD6C8"/>
                </ns1:solidFill>
              </ns1:rPr>
              <ns1:t>orchestration framework</ns1:t>
            </ns1:r>
            <ns1:endParaRPr lang="en-US" sz="8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8229600" y="2651760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4BD6C8"/>
                </ns1:solidFill>
              </ns1:rPr>
              <ns1:t>FOCUS</ns1:t>
            </ns1:r>
            <ns1:endParaRPr lang="en-US" sz="670" dirty="0"/>
          </ns1:p>
        </ns0:txBody>
      </ns0:sp>
      <ns0:sp>
        <ns0:nvSpPr>
          <ns0:cNvPr id="39" name="Text 37"/>
          <ns0:cNvSpPr/>
          <ns0:nvPr/>
        </ns0:nvSpPr>
        <ns0:spPr>
          <ns1:xfrm>
            <ns1:off x="9070848" y="2642616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custom workflow/state machine</ns1:t>
            </ns1:r>
            <ns1:endParaRPr lang="en-US" sz="950" dirty="0"/>
          </ns1:p>
        </ns0:txBody>
      </ns0:sp>
      <ns0:sp>
        <ns0:nvSpPr>
          <ns0:cNvPr id="40" name="Shape 38"/>
          <ns0:cNvSpPr/>
          <ns0:nvPr/>
        </ns0:nvSpPr>
        <ns0:spPr>
          <ns1:xfrm>
            <ns1:off x="8229600" y="3090672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41" name="Text 39"/>
          <ns0:cNvSpPr/>
          <ns0:nvPr/>
        </ns0:nvSpPr>
        <ns0:spPr>
          <ns1:xfrm>
            <ns1:off x="8229600" y="3364992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4BD6C8"/>
                </ns1:solidFill>
              </ns1:rPr>
              <ns1:t>DELIVERY</ns1:t>
            </ns1:r>
            <ns1:endParaRPr lang="en-US" sz="670" dirty="0"/>
          </ns1:p>
        </ns0:txBody>
      </ns0:sp>
      <ns0:sp>
        <ns0:nvSpPr>
          <ns0:cNvPr id="42" name="Text 40"/>
          <ns0:cNvSpPr/>
          <ns0:nvPr/>
        </ns0:nvSpPr>
        <ns0:spPr>
          <ns1:xfrm>
            <ns1:off x="9070848" y="3355848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library + chosen runtime</ns1:t>
            </ns1:r>
            <ns1:endParaRPr lang="en-US" sz="950" dirty="0"/>
          </ns1:p>
        </ns0:txBody>
      </ns0:sp>
      <ns0:sp>
        <ns0:nvSpPr>
          <ns0:cNvPr id="43" name="Shape 41"/>
          <ns0:cNvSpPr/>
          <ns0:nvPr/>
        </ns0:nvSpPr>
        <ns0:spPr>
          <ns1:xfrm>
            <ns1:off x="8229600" y="3803904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44" name="Text 42"/>
          <ns0:cNvSpPr/>
          <ns0:nvPr/>
        </ns0:nvSpPr>
        <ns0:spPr>
          <ns1:xfrm>
            <ns1:off x="8229600" y="4078224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4BD6C8"/>
                </ns1:solidFill>
              </ns1:rPr>
              <ns1:t>YOU GAIN</ns1:t>
            </ns1:r>
            <ns1:endParaRPr lang="en-US" sz="670" dirty="0"/>
          </ns1:p>
        </ns0:txBody>
      </ns0:sp>
      <ns0:sp>
        <ns0:nvSpPr>
          <ns0:cNvPr id="45" name="Text 43"/>
          <ns0:cNvSpPr/>
          <ns0:nvPr/>
        </ns0:nvSpPr>
        <ns0:spPr>
          <ns1:xfrm>
            <ns1:off x="9070848" y="4069080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explicit workflow control</ns1:t>
            </ns1:r>
            <ns1:endParaRPr lang="en-US" sz="950" dirty="0"/>
          </ns1:p>
        </ns0:txBody>
      </ns0:sp>
      <ns0:sp>
        <ns0:nvSpPr>
          <ns0:cNvPr id="46" name="Shape 44"/>
          <ns0:cNvSpPr/>
          <ns0:nvPr/>
        </ns0:nvSpPr>
        <ns0:spPr>
          <ns1:xfrm>
            <ns1:off x="8229600" y="4517136"/>
            <ns1:ext cx="3191256" cy="0"/>
          </ns1:xfrm>
          <ns1:prstGeom prst="line">
            <ns1:avLst/>
          </ns1:prstGeom>
          <ns1:noFill/>
          <ns1:ln w="8890">
            <ns1:solidFill>
              <ns1:srgbClr val="303849"/>
            </ns1:solidFill>
            <ns1:prstDash val="solid"/>
          </ns1:ln>
        </ns0:spPr>
      </ns0:sp>
      <ns0:sp>
        <ns0:nvSpPr>
          <ns0:cNvPr id="47" name="Text 45"/>
          <ns0:cNvSpPr/>
          <ns0:nvPr/>
        </ns0:nvSpPr>
        <ns0:spPr>
          <ns1:xfrm>
            <ns1:off x="8229600" y="4791456"/>
            <ns1:ext cx="77724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670" b="1" dirty="0">
                <ns1:solidFill>
                  <ns1:srgbClr val="4BD6C8"/>
                </ns1:solidFill>
              </ns1:rPr>
              <ns1:t>YOU ASSUME</ns1:t>
            </ns1:r>
            <ns1:endParaRPr lang="en-US" sz="670" dirty="0"/>
          </ns1:p>
        </ns0:txBody>
      </ns0:sp>
      <ns0:sp>
        <ns0:nvSpPr>
          <ns0:cNvPr id="48" name="Text 46"/>
          <ns0:cNvSpPr/>
          <ns0:nvPr/>
        </ns0:nvSpPr>
        <ns0:spPr>
          <ns1:xfrm>
            <ns1:off x="9070848" y="4782312"/>
            <ns1:ext cx="2350008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A9B1C1"/>
                </ns1:solidFill>
              </ns1:rPr>
              <ns1:t>product, channels, and platform</ns1:t>
            </ns1:r>
            <ns1:endParaRPr lang="en-US" sz="950" dirty="0"/>
          </ns1:p>
        </ns0:txBody>
      </ns0:sp>
      <ns0:sp>
        <ns0:nvSpPr>
          <ns0:cNvPr id="49" name="Text 47"/>
          <ns0:cNvSpPr/>
          <ns0:nvPr/>
        </ns0:nvSpPr>
        <ns0:spPr>
          <ns1:xfrm>
            <ns1:off x="685800" y="6126480"/>
            <ns1:ext cx="108356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8B93A5"/>
                </ns1:solidFill>
              </ns1:rPr>
              <ns1:t>Note: “Agents for Amazon Bedrock” became Agents Classic and is in maintenance; AgentCore is the current alternative.</ns1:t>
            </ns1:r>
            <ns1:endParaRPr lang="en-US" sz="750" dirty="0"/>
          </ns1:p>
        </ns0:txBody>
      </ns0:sp>
      <ns0:sp>
        <ns0:nvSpPr>
          <ns0:cNvPr id="50" name="Text 48"/>
          <ns0:cNvSpPr/>
          <ns0:nvPr/>
        </ns0:nvSpPr>
        <ns0:spPr>
          <ns1:xfrm>
            <ns1:off x="1874520" y="6473952"/>
            <ns1:ext cx="90068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620" dirty="0">
                <ns1:solidFill>
                  <ns1:srgbClr val="70798B"/>
                </ns1:solidFill>
              </ns1:rPr>
              <ns1:t>Sources: AWS AgentCore Overview · LangGraph Overview · OpenClaw Docs</ns1:t>
            </ns1:r>
            <ns1:endParaRPr lang="en-US" sz="62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7</ns1:t>
            </ns1:fld>
            <ns1:endParaRPr lang="en-US"/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502920" y="310896"/>
            <ns1:ext cx="4389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800" b="1" spc="180" kern="0" dirty="0">
                <ns1:solidFill>
                  <ns1:srgbClr val="FF5A52"/>
                </ns1:solidFill>
              </ns1:rPr>
              <ns1:t>07 · CONCLUSION</ns1:t>
            </ns1:r>
            <ns1:endParaRPr lang="en-US" sz="8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502920" y="640080"/>
            <ns1:ext cx="1097280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2600" b="1" dirty="0">
                <ns1:solidFill>
                  <ns1:srgbClr val="F4F7FB"/>
                </ns1:solidFill>
              </ns1:rPr>
              <ns1:t>Real power requires real controls</ns1:t>
            </ns1:r>
            <ns1:endParaRPr lang="en-US" sz="26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30352" y="1353312"/>
            <ns1:ext cx="1069848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F4F7FB"/>
                </ns1:solidFill>
              </ns1:rPr>
              <ns1:t>The risk does not come from “being AI.” It comes from combining untrusted content with persistent authority.</ns1:t>
            </ns1:r>
            <ns1:endParaRPr lang="en-US" sz="18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658368" y="2240280"/>
            <ns1:ext cx="3429000" cy="2011680"/>
          </ns1:xfrm>
          <ns1:prstGeom prst="roundRect">
            <ns1:avLst>
              <ns1:gd name="adj" fmla="val 2727"/>
            </ns1:avLst>
          </ns1:prstGeom>
          <ns1:solidFill>
            <ns1:srgbClr val="151922"/>
          </ns1:solidFill>
          <ns1:ln w="12700">
            <ns1:solidFill>
              <ns1:srgbClr val="4BD6C8">
                <ns1:alpha val="75000"/>
              </ns1:srgbClr>
            </ns1:solidFill>
            <ns1:prstDash val="solid"/>
          </ns1:ln>
        </ns0:spPr>
      </ns0:sp>
      <ns0:sp>
        <ns0:nvSpPr>
          <ns0:cNvPr id="6" name="Shape 4"/>
          <ns0:cNvSpPr/>
          <ns0:nvPr/>
        </ns0:nvSpPr>
        <ns0:spPr>
          <ns1:xfrm>
            <ns1:off x="886968" y="2542032"/>
            <ns1:ext cx="566928" cy="566928"/>
          </ns1:xfrm>
          <ns1:prstGeom prst="ellipse">
            <ns1:avLst/>
          </ns1:prstGeom>
          <ns1:solidFill>
            <ns1:srgbClr val="4BD6C8"/>
          </ns1:solidFill>
          <ns1:ln w="12700">
            <ns1:solidFill>
              <ns1:srgbClr val="4BD6C8"/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886968" y="2651760"/>
            <ns1:ext cx="566928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1</ns1:t>
            </ns1:r>
            <ns1:endParaRPr lang="en-US" sz="12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1618488" y="2587752"/>
            <ns1:ext cx="219456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350" b="1" dirty="0">
                <ns1:solidFill>
                  <ns1:srgbClr val="F4F7FB"/>
                </ns1:solidFill>
              </ns1:rPr>
              <ns1:t>LEAST PRIVILEGE</ns1:t>
            </ns1:r>
            <ns1:endParaRPr lang="en-US" sz="135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905256" y="3364992"/>
            <ns1:ext cx="292608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Tools, skills, channels, and nodes only when necessary.</ns1:t>
            </ns1:r>
            <ns1:endParaRPr lang="en-US" sz="105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4480560" y="2240280"/>
            <ns1:ext cx="3429000" cy="2011680"/>
          </ns1:xfrm>
          <ns1:prstGeom prst="roundRect">
            <ns1:avLst>
              <ns1:gd name="adj" fmla="val 2727"/>
            </ns1:avLst>
          </ns1:prstGeom>
          <ns1:solidFill>
            <ns1:srgbClr val="151922"/>
          </ns1:solidFill>
          <ns1:ln w="12700">
            <ns1:solidFill>
              <ns1:srgbClr val="63A4FF">
                <ns1:alpha val="75000"/>
              </ns1:srgbClr>
            </ns1:solidFill>
            <ns1:prstDash val="solid"/>
          </ns1:ln>
        </ns0:spPr>
      </ns0:sp>
      <ns0:sp>
        <ns0:nvSpPr>
          <ns0:cNvPr id="11" name="Shape 9"/>
          <ns0:cNvSpPr/>
          <ns0:nvPr/>
        </ns0:nvSpPr>
        <ns0:spPr>
          <ns1:xfrm>
            <ns1:off x="4709160" y="2542032"/>
            <ns1:ext cx="566928" cy="566928"/>
          </ns1:xfrm>
          <ns1:prstGeom prst="ellipse">
            <ns1:avLst/>
          </ns1:prstGeom>
          <ns1:solidFill>
            <ns1:srgbClr val="63A4FF"/>
          </ns1:solidFill>
          <ns1:ln w="12700">
            <ns1:solidFill>
              <ns1:srgbClr val="63A4FF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4709160" y="2651760"/>
            <ns1:ext cx="566928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2</ns1:t>
            </ns1:r>
            <ns1:endParaRPr lang="en-US" sz="1200" dirty="0"/>
          </ns1:p>
        </ns0:txBody>
      </ns0:sp>
      <ns0:sp>
        <ns0:nvSpPr>
          <ns0:cNvPr id="13" name="Text 11"/>
          <ns0:cNvSpPr/>
          <ns0:nvPr/>
        </ns0:nvSpPr>
        <ns0:spPr>
          <ns1:xfrm>
            <ns1:off x="5440680" y="2587752"/>
            <ns1:ext cx="219456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350" b="1" dirty="0">
                <ns1:solidFill>
                  <ns1:srgbClr val="F4F7FB"/>
                </ns1:solidFill>
              </ns1:rPr>
              <ns1:t>ISOLATION</ns1:t>
            </ns1:r>
            <ns1:endParaRPr lang="en-US" sz="13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4727448" y="3364992"/>
            <ns1:ext cx="292608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Sandboxing, separate accounts, and explicit trust boundaries.</ns1:t>
            </ns1:r>
            <ns1:endParaRPr lang="en-US" sz="10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302752" y="2240280"/>
            <ns1:ext cx="3429000" cy="2011680"/>
          </ns1:xfrm>
          <ns1:prstGeom prst="roundRect">
            <ns1:avLst>
              <ns1:gd name="adj" fmla="val 2727"/>
            </ns1:avLst>
          </ns1:prstGeom>
          <ns1:solidFill>
            <ns1:srgbClr val="151922"/>
          </ns1:solidFill>
          <ns1:ln w="12700">
            <ns1:solidFill>
              <ns1:srgbClr val="F6C85F">
                <ns1:alpha val="75000"/>
              </ns1:srgbClr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8531352" y="2542032"/>
            <ns1:ext cx="566928" cy="566928"/>
          </ns1:xfrm>
          <ns1:prstGeom prst="ellipse">
            <ns1:avLst/>
          </ns1:prstGeom>
          <ns1:solidFill>
            <ns1:srgbClr val="F6C85F"/>
          </ns1:solidFill>
          <ns1:ln w="12700">
            <ns1:solidFill>
              <ns1:srgbClr val="F6C85F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8531352" y="2651760"/>
            <ns1:ext cx="566928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80A0E"/>
                </ns1:solidFill>
              </ns1:rPr>
              <ns1:t>3</ns1:t>
            </ns1:r>
            <ns1:endParaRPr lang="en-US" sz="120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9262872" y="2587752"/>
            <ns1:ext cx="219456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en-US" sz="1350" b="1" dirty="0">
                <ns1:solidFill>
                  <ns1:srgbClr val="F4F7FB"/>
                </ns1:solidFill>
              </ns1:rPr>
              <ns1:t>OPERATIONS</ns1:t>
            </ns1:r>
            <ns1:endParaRPr lang="en-US" sz="135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8549640" y="3364992"/>
            <ns1:ext cx="292608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A9B1C1"/>
                </ns1:solidFill>
              </ns1:rPr>
              <ns1:t>Patching, backups, auditing, approvals, and secret rotation.</ns1:t>
            </ns1:r>
            <ns1:endParaRPr lang="en-US" sz="10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1051560" y="4846320"/>
            <ns1:ext cx="10058400" cy="868680"/>
          </ns1:xfrm>
          <ns1:prstGeom prst="roundRect">
            <ns1:avLst>
              <ns1:gd name="adj" fmla="val 8421"/>
            </ns1:avLst>
          </ns1:prstGeom>
          <ns1:solidFill>
            <ns1:srgbClr val="FF5A52">
              <ns1:alpha val="92000"/>
            </ns1:srgbClr>
          </ns1:solidFill>
          <ns1:ln w="12700">
            <ns1:solidFill>
              <ns1:srgbClr val="FF7A72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1353312" y="5129784"/>
            <ns1:ext cx="94640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1850" b="1" dirty="0">
                <ns1:solidFill>
                  <ns1:srgbClr val="FFFFFF"/>
                </ns1:solidFill>
              </ns1:rPr>
              <ns1:t>Your assistant. Your machine. Your rules. Your responsibility.</ns1:t>
            </ns1:r>
            <ns1:endParaRPr lang="en-US" sz="185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1874520" y="6473952"/>
            <ns1:ext cx="90068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en-US" sz="620" dirty="0">
                <ns1:solidFill>
                  <ns1:srgbClr val="70798B"/>
                </ns1:solidFill>
              </ns1:rPr>
              <ns1:t>docs.openclaw.ai/gateway/security</ns1:t>
            </ns1:r>
            <ns1:endParaRPr lang="en-US" sz="620" dirty="0"/>
          </ns1:p>
        </ns0:txBody>
      </ns0:sp>
      <ns0:sp>
        <ns0:nvSpPr>
          <ns0:cNvPr id="25" name="Slide Number Placeholder 0"/>
          <ns0:cNvSpPr>
            <ns1:spLocks noGrp="1"/>
          </ns0:cNvSpPr>
          <ns0:nvPr>
            <ns0:ph type="sldNum" sz="quarter" idx="4294967295"/>
          </ns0:nvPr>
        </ns0:nvSpPr>
        <ns0:spPr>
          <ns1:xfrm>
            <ns1:off x="11384280" y="6473952"/>
            <ns1:ext cx="365760" cy="182880"/>
          </ns1:xfrm>
          <ns1:prstGeom prst="rect">
            <ns1:avLst/>
          </ns1:prstGeom>
          <ns1:extLst>
            <ns1:ext uri="{C572A759-6A51-4108-AA02-DFA0A04FC94B}">
              <ns2:wrappingTextBoxFlag val="0"/>
            </ns1:ext>
          </ns1:extLst>
        </ns0:spPr>
        <ns0:txBody>
          <ns1:bodyPr lIns="0" tIns="0" rIns="0" bIns="0"/>
          <ns1:lstStyle>
            <ns1:lvl1pPr>
              <ns1:defRPr sz="700">
                <ns1:solidFill>
                  <ns1:srgbClr val="7D8597"/>
                </ns1:solidFill>
                <ns1:latin typeface="DejaVu Sans"/>
                <ns1:ea typeface="DejaVu Sans"/>
                <ns1:cs typeface="DejaVu Sans"/>
              </ns1:defRPr>
            </ns1:lvl1pPr>
          </ns1:lstStyle>
          <ns1:p>
            <ns1:pPr algn="r"/>
            <ns1:fld id="{F7021451-1387-4CA6-816F-3879F97B5CBC}" type="slidenum">
              <ns1:rPr b="0" lang="en-US"/>
              <ns1:t>8</ns1:t>
            </ns1:fld>
            <ns1:endParaRPr lang="en-US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Jeferson Lemos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— da conversa à ação</dc:title>
  <dc:subject>OpenClaw — visão geral técnica, arquitetura e comparação</dc:subject>
  <dc:creator>Jeferson Lemos</dc:creator>
  <cp:lastModifiedBy>Jeferson Lemos</cp:lastModifiedBy>
  <cp:revision>1</cp:revision>
  <dcterms:created xsi:type="dcterms:W3CDTF">2026-08-23T21:15:01Z</dcterms:created>
  <dcterms:modified xsi:type="dcterms:W3CDTF">2026-08-23T21:15:01Z</dcterms:modified>
</cp:coreProperties>
</file>